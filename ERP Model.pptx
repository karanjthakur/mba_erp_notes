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8288000" cy="10287000"/>
  <p:notesSz cx="6858000" cy="9144000"/>
  <p:embeddedFontLst>
    <p:embeddedFont>
      <p:font typeface="DM Sans" pitchFamily="2" charset="0"/>
      <p:regular r:id="rId14"/>
    </p:embeddedFont>
    <p:embeddedFont>
      <p:font typeface="DM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09195" y="1028700"/>
            <a:ext cx="2634805" cy="3065955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26598" y="3610523"/>
            <a:ext cx="2634805" cy="3065955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09195" y="6192345"/>
            <a:ext cx="2634805" cy="3065955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25717" y="1911986"/>
            <a:ext cx="118737" cy="973383"/>
            <a:chOff x="0" y="0"/>
            <a:chExt cx="31272" cy="2563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25717" y="4742681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25717" y="7573376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269276" y="2367127"/>
            <a:ext cx="1123491" cy="883345"/>
          </a:xfrm>
          <a:custGeom>
            <a:avLst/>
            <a:gdLst/>
            <a:ahLst/>
            <a:cxnLst/>
            <a:rect l="l" t="t" r="r" b="b"/>
            <a:pathLst>
              <a:path w="1123491" h="883345">
                <a:moveTo>
                  <a:pt x="0" y="0"/>
                </a:moveTo>
                <a:lnTo>
                  <a:pt x="1123490" y="0"/>
                </a:lnTo>
                <a:lnTo>
                  <a:pt x="1123490" y="883345"/>
                </a:lnTo>
                <a:lnTo>
                  <a:pt x="0" y="883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615016" y="4975643"/>
            <a:ext cx="1066953" cy="1055755"/>
          </a:xfrm>
          <a:custGeom>
            <a:avLst/>
            <a:gdLst/>
            <a:ahLst/>
            <a:cxnLst/>
            <a:rect l="l" t="t" r="r" b="b"/>
            <a:pathLst>
              <a:path w="1066953" h="1055755">
                <a:moveTo>
                  <a:pt x="0" y="0"/>
                </a:moveTo>
                <a:lnTo>
                  <a:pt x="1066952" y="0"/>
                </a:lnTo>
                <a:lnTo>
                  <a:pt x="1066952" y="1055755"/>
                </a:lnTo>
                <a:lnTo>
                  <a:pt x="0" y="105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6956627" y="7099730"/>
            <a:ext cx="1801272" cy="1635603"/>
          </a:xfrm>
          <a:custGeom>
            <a:avLst/>
            <a:gdLst/>
            <a:ahLst/>
            <a:cxnLst/>
            <a:rect l="l" t="t" r="r" b="b"/>
            <a:pathLst>
              <a:path w="1801272" h="1635603">
                <a:moveTo>
                  <a:pt x="0" y="0"/>
                </a:moveTo>
                <a:lnTo>
                  <a:pt x="1801273" y="0"/>
                </a:lnTo>
                <a:lnTo>
                  <a:pt x="1801273" y="1635603"/>
                </a:lnTo>
                <a:lnTo>
                  <a:pt x="0" y="1635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028700" y="4448202"/>
            <a:ext cx="4481438" cy="50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1"/>
              </a:lnSpc>
            </a:pPr>
            <a:r>
              <a:rPr lang="en-US" sz="376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 to ERP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925" y="5443005"/>
            <a:ext cx="4960143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ERP integrates core business processes into a unified system with a common database, enabling seamless data flow across the organization.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64799" y="2370102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Enterprise Resource Planning (ERP) connects Finance, Supply Chain, Production, Sales, and HR into one unified platform with a shared database, eliminating data silos.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64799" y="5200797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Finance · Supply Chain · Production · Sales · Human Resources — all integrated modules sharing real-time data through a single common database.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64799" y="8031493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Real-time data access, improved cross-departmental coordination, and enhanced decision support through consolidated operational insights and analytics.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64799" y="1864361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ERP?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4799" y="4695056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Core Modules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64799" y="7525751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Key Benefits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831065" y="4080753"/>
            <a:ext cx="625871" cy="601547"/>
            <a:chOff x="0" y="0"/>
            <a:chExt cx="164838" cy="1584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13662" y="1497736"/>
            <a:ext cx="625871" cy="601547"/>
            <a:chOff x="0" y="0"/>
            <a:chExt cx="164838" cy="1584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13662" y="6569140"/>
            <a:ext cx="625871" cy="601547"/>
            <a:chOff x="0" y="0"/>
            <a:chExt cx="164838" cy="158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889374" y="4202126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1972" y="1619109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1972" y="6690513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9453" y="7990418"/>
            <a:ext cx="3086100" cy="1267882"/>
            <a:chOff x="0" y="0"/>
            <a:chExt cx="622300" cy="255663"/>
          </a:xfrm>
        </p:grpSpPr>
        <p:sp>
          <p:nvSpPr>
            <p:cNvPr id="3" name="Freeform 3"/>
            <p:cNvSpPr/>
            <p:nvPr/>
          </p:nvSpPr>
          <p:spPr>
            <a:xfrm>
              <a:off x="26967" y="0"/>
              <a:ext cx="568366" cy="255663"/>
            </a:xfrm>
            <a:custGeom>
              <a:avLst/>
              <a:gdLst/>
              <a:ahLst/>
              <a:cxnLst/>
              <a:rect l="l" t="t" r="r" b="b"/>
              <a:pathLst>
                <a:path w="568366" h="255663">
                  <a:moveTo>
                    <a:pt x="55622" y="0"/>
                  </a:moveTo>
                  <a:lnTo>
                    <a:pt x="512744" y="0"/>
                  </a:lnTo>
                  <a:cubicBezTo>
                    <a:pt x="531249" y="0"/>
                    <a:pt x="548542" y="9203"/>
                    <a:pt x="558878" y="24551"/>
                  </a:cubicBezTo>
                  <a:cubicBezTo>
                    <a:pt x="569215" y="39900"/>
                    <a:pt x="571242" y="59384"/>
                    <a:pt x="564286" y="76531"/>
                  </a:cubicBezTo>
                  <a:lnTo>
                    <a:pt x="522663" y="179132"/>
                  </a:lnTo>
                  <a:cubicBezTo>
                    <a:pt x="503895" y="225396"/>
                    <a:pt x="458953" y="255663"/>
                    <a:pt x="409027" y="255663"/>
                  </a:cubicBezTo>
                  <a:lnTo>
                    <a:pt x="159339" y="255663"/>
                  </a:lnTo>
                  <a:cubicBezTo>
                    <a:pt x="109413" y="255663"/>
                    <a:pt x="64471" y="225396"/>
                    <a:pt x="45703" y="179132"/>
                  </a:cubicBezTo>
                  <a:lnTo>
                    <a:pt x="4080" y="76531"/>
                  </a:lnTo>
                  <a:cubicBezTo>
                    <a:pt x="-2876" y="59384"/>
                    <a:pt x="-849" y="39900"/>
                    <a:pt x="9487" y="24551"/>
                  </a:cubicBezTo>
                  <a:cubicBezTo>
                    <a:pt x="19824" y="9203"/>
                    <a:pt x="37117" y="0"/>
                    <a:pt x="55622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368300" cy="293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42878" y="6448411"/>
            <a:ext cx="4379251" cy="1265781"/>
            <a:chOff x="0" y="0"/>
            <a:chExt cx="883059" cy="255240"/>
          </a:xfrm>
        </p:grpSpPr>
        <p:sp>
          <p:nvSpPr>
            <p:cNvPr id="6" name="Freeform 6"/>
            <p:cNvSpPr/>
            <p:nvPr/>
          </p:nvSpPr>
          <p:spPr>
            <a:xfrm>
              <a:off x="19028" y="0"/>
              <a:ext cx="845002" cy="255240"/>
            </a:xfrm>
            <a:custGeom>
              <a:avLst/>
              <a:gdLst/>
              <a:ahLst/>
              <a:cxnLst/>
              <a:rect l="l" t="t" r="r" b="b"/>
              <a:pathLst>
                <a:path w="845002" h="255240">
                  <a:moveTo>
                    <a:pt x="39173" y="0"/>
                  </a:moveTo>
                  <a:lnTo>
                    <a:pt x="805829" y="0"/>
                  </a:lnTo>
                  <a:cubicBezTo>
                    <a:pt x="818866" y="0"/>
                    <a:pt x="831048" y="6485"/>
                    <a:pt x="838327" y="17300"/>
                  </a:cubicBezTo>
                  <a:cubicBezTo>
                    <a:pt x="845606" y="28115"/>
                    <a:pt x="847028" y="41842"/>
                    <a:pt x="842120" y="53920"/>
                  </a:cubicBezTo>
                  <a:lnTo>
                    <a:pt x="782224" y="201320"/>
                  </a:lnTo>
                  <a:cubicBezTo>
                    <a:pt x="768978" y="233919"/>
                    <a:pt x="737299" y="255240"/>
                    <a:pt x="702112" y="255240"/>
                  </a:cubicBezTo>
                  <a:lnTo>
                    <a:pt x="142890" y="255240"/>
                  </a:lnTo>
                  <a:cubicBezTo>
                    <a:pt x="107703" y="255240"/>
                    <a:pt x="76025" y="233919"/>
                    <a:pt x="62778" y="201320"/>
                  </a:cubicBezTo>
                  <a:lnTo>
                    <a:pt x="2882" y="53920"/>
                  </a:lnTo>
                  <a:cubicBezTo>
                    <a:pt x="-2025" y="41842"/>
                    <a:pt x="-603" y="28115"/>
                    <a:pt x="6676" y="17300"/>
                  </a:cubicBezTo>
                  <a:cubicBezTo>
                    <a:pt x="13955" y="6485"/>
                    <a:pt x="26137" y="0"/>
                    <a:pt x="39173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38100"/>
              <a:ext cx="629059" cy="293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96303" y="4904718"/>
            <a:ext cx="5672402" cy="1267468"/>
            <a:chOff x="0" y="0"/>
            <a:chExt cx="1143818" cy="255580"/>
          </a:xfrm>
        </p:grpSpPr>
        <p:sp>
          <p:nvSpPr>
            <p:cNvPr id="9" name="Freeform 9"/>
            <p:cNvSpPr/>
            <p:nvPr/>
          </p:nvSpPr>
          <p:spPr>
            <a:xfrm>
              <a:off x="14675" y="0"/>
              <a:ext cx="1114467" cy="255580"/>
            </a:xfrm>
            <a:custGeom>
              <a:avLst/>
              <a:gdLst/>
              <a:ahLst/>
              <a:cxnLst/>
              <a:rect l="l" t="t" r="r" b="b"/>
              <a:pathLst>
                <a:path w="1114467" h="255580">
                  <a:moveTo>
                    <a:pt x="30258" y="0"/>
                  </a:moveTo>
                  <a:lnTo>
                    <a:pt x="1084209" y="0"/>
                  </a:lnTo>
                  <a:cubicBezTo>
                    <a:pt x="1094276" y="0"/>
                    <a:pt x="1103684" y="5007"/>
                    <a:pt x="1109307" y="13357"/>
                  </a:cubicBezTo>
                  <a:cubicBezTo>
                    <a:pt x="1114930" y="21707"/>
                    <a:pt x="1116032" y="32307"/>
                    <a:pt x="1112247" y="41635"/>
                  </a:cubicBezTo>
                  <a:lnTo>
                    <a:pt x="1042322" y="213945"/>
                  </a:lnTo>
                  <a:cubicBezTo>
                    <a:pt x="1032108" y="239114"/>
                    <a:pt x="1007656" y="255580"/>
                    <a:pt x="980492" y="255580"/>
                  </a:cubicBezTo>
                  <a:lnTo>
                    <a:pt x="133975" y="255580"/>
                  </a:lnTo>
                  <a:cubicBezTo>
                    <a:pt x="106812" y="255580"/>
                    <a:pt x="82360" y="239114"/>
                    <a:pt x="72146" y="213945"/>
                  </a:cubicBezTo>
                  <a:lnTo>
                    <a:pt x="2221" y="41635"/>
                  </a:lnTo>
                  <a:cubicBezTo>
                    <a:pt x="-1564" y="32307"/>
                    <a:pt x="-463" y="21707"/>
                    <a:pt x="5160" y="13357"/>
                  </a:cubicBezTo>
                  <a:cubicBezTo>
                    <a:pt x="10783" y="5007"/>
                    <a:pt x="20191" y="0"/>
                    <a:pt x="30258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889818" cy="293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49727" y="3410213"/>
            <a:ext cx="6965552" cy="1218280"/>
            <a:chOff x="0" y="0"/>
            <a:chExt cx="1404576" cy="245661"/>
          </a:xfrm>
        </p:grpSpPr>
        <p:sp>
          <p:nvSpPr>
            <p:cNvPr id="12" name="Freeform 12"/>
            <p:cNvSpPr/>
            <p:nvPr/>
          </p:nvSpPr>
          <p:spPr>
            <a:xfrm>
              <a:off x="12321" y="0"/>
              <a:ext cx="1379934" cy="245661"/>
            </a:xfrm>
            <a:custGeom>
              <a:avLst/>
              <a:gdLst/>
              <a:ahLst/>
              <a:cxnLst/>
              <a:rect l="l" t="t" r="r" b="b"/>
              <a:pathLst>
                <a:path w="1379934" h="245661">
                  <a:moveTo>
                    <a:pt x="24270" y="0"/>
                  </a:moveTo>
                  <a:lnTo>
                    <a:pt x="1355664" y="0"/>
                  </a:lnTo>
                  <a:cubicBezTo>
                    <a:pt x="1363799" y="0"/>
                    <a:pt x="1371393" y="4076"/>
                    <a:pt x="1375890" y="10855"/>
                  </a:cubicBezTo>
                  <a:cubicBezTo>
                    <a:pt x="1380386" y="17634"/>
                    <a:pt x="1381187" y="26216"/>
                    <a:pt x="1378023" y="33710"/>
                  </a:cubicBezTo>
                  <a:lnTo>
                    <a:pt x="1302771" y="211951"/>
                  </a:lnTo>
                  <a:cubicBezTo>
                    <a:pt x="1294145" y="232382"/>
                    <a:pt x="1274124" y="245661"/>
                    <a:pt x="1251947" y="245661"/>
                  </a:cubicBezTo>
                  <a:lnTo>
                    <a:pt x="127987" y="245661"/>
                  </a:lnTo>
                  <a:cubicBezTo>
                    <a:pt x="105810" y="245661"/>
                    <a:pt x="85789" y="232382"/>
                    <a:pt x="77164" y="211951"/>
                  </a:cubicBezTo>
                  <a:lnTo>
                    <a:pt x="1911" y="33710"/>
                  </a:lnTo>
                  <a:cubicBezTo>
                    <a:pt x="-1253" y="26216"/>
                    <a:pt x="-452" y="17634"/>
                    <a:pt x="4045" y="10855"/>
                  </a:cubicBezTo>
                  <a:cubicBezTo>
                    <a:pt x="8541" y="4076"/>
                    <a:pt x="16135" y="0"/>
                    <a:pt x="2427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-38100"/>
              <a:ext cx="1150576" cy="28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67023" y="3518393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54667" y="5094001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20480" y="6669610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40922" y="8245218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9120480" y="4019353"/>
            <a:ext cx="1801275" cy="0"/>
          </a:xfrm>
          <a:prstGeom prst="line">
            <a:avLst/>
          </a:prstGeom>
          <a:ln w="38100" cap="flat">
            <a:solidFill>
              <a:srgbClr val="3B82F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" name="AutoShape 27"/>
          <p:cNvSpPr/>
          <p:nvPr/>
        </p:nvSpPr>
        <p:spPr>
          <a:xfrm>
            <a:off x="8240922" y="5619093"/>
            <a:ext cx="1418640" cy="0"/>
          </a:xfrm>
          <a:prstGeom prst="line">
            <a:avLst/>
          </a:prstGeom>
          <a:ln w="38100" cap="flat">
            <a:solidFill>
              <a:srgbClr val="14B8A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8" name="AutoShape 28"/>
          <p:cNvSpPr/>
          <p:nvPr/>
        </p:nvSpPr>
        <p:spPr>
          <a:xfrm flipV="1">
            <a:off x="7622129" y="7162786"/>
            <a:ext cx="1157874" cy="0"/>
          </a:xfrm>
          <a:prstGeom prst="line">
            <a:avLst/>
          </a:prstGeom>
          <a:ln w="38100" cap="flat">
            <a:solidFill>
              <a:srgbClr val="F59E0B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9" name="AutoShape 29"/>
          <p:cNvSpPr/>
          <p:nvPr/>
        </p:nvSpPr>
        <p:spPr>
          <a:xfrm flipV="1">
            <a:off x="6975553" y="8704793"/>
            <a:ext cx="897819" cy="0"/>
          </a:xfrm>
          <a:prstGeom prst="line">
            <a:avLst/>
          </a:prstGeom>
          <a:ln w="38100" cap="flat">
            <a:solidFill>
              <a:srgbClr val="F9731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866196" y="3483008"/>
            <a:ext cx="1157280" cy="898161"/>
          </a:xfrm>
          <a:custGeom>
            <a:avLst/>
            <a:gdLst/>
            <a:ahLst/>
            <a:cxnLst/>
            <a:rect l="l" t="t" r="r" b="b"/>
            <a:pathLst>
              <a:path w="1157280" h="898161">
                <a:moveTo>
                  <a:pt x="0" y="0"/>
                </a:moveTo>
                <a:lnTo>
                  <a:pt x="1157280" y="0"/>
                </a:lnTo>
                <a:lnTo>
                  <a:pt x="1157280" y="898161"/>
                </a:lnTo>
                <a:lnTo>
                  <a:pt x="0" y="898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5034330" y="5144046"/>
            <a:ext cx="803927" cy="793395"/>
          </a:xfrm>
          <a:custGeom>
            <a:avLst/>
            <a:gdLst/>
            <a:ahLst/>
            <a:cxnLst/>
            <a:rect l="l" t="t" r="r" b="b"/>
            <a:pathLst>
              <a:path w="803927" h="793395">
                <a:moveTo>
                  <a:pt x="0" y="0"/>
                </a:moveTo>
                <a:lnTo>
                  <a:pt x="803927" y="0"/>
                </a:lnTo>
                <a:lnTo>
                  <a:pt x="803927" y="793395"/>
                </a:lnTo>
                <a:lnTo>
                  <a:pt x="0" y="793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4966747" y="6587832"/>
            <a:ext cx="918771" cy="880805"/>
          </a:xfrm>
          <a:custGeom>
            <a:avLst/>
            <a:gdLst/>
            <a:ahLst/>
            <a:cxnLst/>
            <a:rect l="l" t="t" r="r" b="b"/>
            <a:pathLst>
              <a:path w="918771" h="880805">
                <a:moveTo>
                  <a:pt x="0" y="0"/>
                </a:moveTo>
                <a:lnTo>
                  <a:pt x="918771" y="0"/>
                </a:lnTo>
                <a:lnTo>
                  <a:pt x="918771" y="880806"/>
                </a:lnTo>
                <a:lnTo>
                  <a:pt x="0" y="880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5017003" y="8279047"/>
            <a:ext cx="831449" cy="636058"/>
          </a:xfrm>
          <a:custGeom>
            <a:avLst/>
            <a:gdLst/>
            <a:ahLst/>
            <a:cxnLst/>
            <a:rect l="l" t="t" r="r" b="b"/>
            <a:pathLst>
              <a:path w="831449" h="636058">
                <a:moveTo>
                  <a:pt x="0" y="0"/>
                </a:moveTo>
                <a:lnTo>
                  <a:pt x="831449" y="0"/>
                </a:lnTo>
                <a:lnTo>
                  <a:pt x="831449" y="636058"/>
                </a:lnTo>
                <a:lnTo>
                  <a:pt x="0" y="636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4652787" y="2043166"/>
            <a:ext cx="8982426" cy="26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How ERP supports real-time inventory and production information in manufacturing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06105" y="3986035"/>
            <a:ext cx="4632168" cy="87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Supply Chain, Inventory &amp; Production modules share a single common database for seamless data flow.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93749" y="5561643"/>
            <a:ext cx="4632168" cy="57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Every transaction instantly updates stock levels and production data across all departments.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59562" y="7137252"/>
            <a:ext cx="4632168" cy="57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Production schedules are dynamically linked with live inventory levels to prevent shortages.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80003" y="8712860"/>
            <a:ext cx="4632168" cy="87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Real-time dashboards provide operational insights, reducing errors and enabling faster decisions.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06105" y="3489818"/>
            <a:ext cx="4632168" cy="24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Integrated Modules &amp; Common Database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93749" y="5065426"/>
            <a:ext cx="3419812" cy="24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Transaction Recording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59562" y="6641035"/>
            <a:ext cx="3419812" cy="24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Production Scheduling &amp; Inventory Link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80003" y="8216643"/>
            <a:ext cx="4283503" cy="24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Dashboards &amp;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52787" y="3471862"/>
            <a:ext cx="3086100" cy="2314575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824" y="4629150"/>
            <a:ext cx="3086100" cy="2314575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02377" y="5786437"/>
            <a:ext cx="3086100" cy="2314575"/>
            <a:chOff x="0" y="0"/>
            <a:chExt cx="812800" cy="609600"/>
          </a:xfrm>
        </p:grpSpPr>
        <p:sp>
          <p:nvSpPr>
            <p:cNvPr id="9" name="Freeform 9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70930" y="6943725"/>
            <a:ext cx="3086100" cy="2314575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8068" y="6294033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88051" y="2883478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8068" y="7958917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88051" y="4548361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69966" y="3209478"/>
            <a:ext cx="625871" cy="973383"/>
            <a:chOff x="0" y="0"/>
            <a:chExt cx="164838" cy="2563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38887" y="4248968"/>
            <a:ext cx="625871" cy="973383"/>
            <a:chOff x="0" y="0"/>
            <a:chExt cx="164838" cy="2563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19924" y="5299746"/>
            <a:ext cx="625871" cy="973383"/>
            <a:chOff x="0" y="0"/>
            <a:chExt cx="164838" cy="2563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888477" y="6617120"/>
            <a:ext cx="625871" cy="973383"/>
            <a:chOff x="0" y="0"/>
            <a:chExt cx="164838" cy="2563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7609636" y="5566950"/>
            <a:ext cx="1119661" cy="927219"/>
          </a:xfrm>
          <a:custGeom>
            <a:avLst/>
            <a:gdLst/>
            <a:ahLst/>
            <a:cxnLst/>
            <a:rect l="l" t="t" r="r" b="b"/>
            <a:pathLst>
              <a:path w="1119661" h="927219">
                <a:moveTo>
                  <a:pt x="0" y="0"/>
                </a:moveTo>
                <a:lnTo>
                  <a:pt x="1119661" y="0"/>
                </a:lnTo>
                <a:lnTo>
                  <a:pt x="1119661" y="927219"/>
                </a:lnTo>
                <a:lnTo>
                  <a:pt x="0" y="927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11870002" y="7832261"/>
            <a:ext cx="1050209" cy="1148474"/>
          </a:xfrm>
          <a:custGeom>
            <a:avLst/>
            <a:gdLst/>
            <a:ahLst/>
            <a:cxnLst/>
            <a:rect l="l" t="t" r="r" b="b"/>
            <a:pathLst>
              <a:path w="1050209" h="1148474">
                <a:moveTo>
                  <a:pt x="0" y="0"/>
                </a:moveTo>
                <a:lnTo>
                  <a:pt x="1050208" y="0"/>
                </a:lnTo>
                <a:lnTo>
                  <a:pt x="1050208" y="1148473"/>
                </a:lnTo>
                <a:lnTo>
                  <a:pt x="0" y="1148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5335402" y="4347457"/>
            <a:ext cx="1287320" cy="1166290"/>
          </a:xfrm>
          <a:custGeom>
            <a:avLst/>
            <a:gdLst/>
            <a:ahLst/>
            <a:cxnLst/>
            <a:rect l="l" t="t" r="r" b="b"/>
            <a:pathLst>
              <a:path w="1287320" h="1166290">
                <a:moveTo>
                  <a:pt x="0" y="0"/>
                </a:moveTo>
                <a:lnTo>
                  <a:pt x="1287320" y="0"/>
                </a:lnTo>
                <a:lnTo>
                  <a:pt x="1287320" y="1166289"/>
                </a:lnTo>
                <a:lnTo>
                  <a:pt x="0" y="1166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/>
          <p:cNvSpPr/>
          <p:nvPr/>
        </p:nvSpPr>
        <p:spPr>
          <a:xfrm>
            <a:off x="9826555" y="6629589"/>
            <a:ext cx="1140004" cy="992673"/>
          </a:xfrm>
          <a:custGeom>
            <a:avLst/>
            <a:gdLst/>
            <a:ahLst/>
            <a:cxnLst/>
            <a:rect l="l" t="t" r="r" b="b"/>
            <a:pathLst>
              <a:path w="1140004" h="992673">
                <a:moveTo>
                  <a:pt x="0" y="0"/>
                </a:moveTo>
                <a:lnTo>
                  <a:pt x="1140003" y="0"/>
                </a:lnTo>
                <a:lnTo>
                  <a:pt x="1140003" y="992673"/>
                </a:lnTo>
                <a:lnTo>
                  <a:pt x="0" y="992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3915300" y="933450"/>
            <a:ext cx="10457401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5"/>
              </a:lnSpc>
            </a:pPr>
            <a:r>
              <a:rPr lang="en-US" sz="4996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Integration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2787" y="2043166"/>
            <a:ext cx="8982426" cy="26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Reducing Data Delays and Duplication Across Purchase, Production &amp; Finance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7150" y="6761675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Common database enables cross-department data sharing; eliminates silos and duplicate entry.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7132" y="3351120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Purchase transactions automatically update inventory levels and finance records instantly.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27150" y="8426558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Production accesses current material and procurement info in real time; no manual handoffs.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27132" y="5016003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One unified record reduces errors, improves coordination, speed, accuracy and visibility.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27150" y="6246408"/>
            <a:ext cx="3419812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Unified Platform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27132" y="2835853"/>
            <a:ext cx="3419812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Purchase → Inventory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27150" y="7911292"/>
            <a:ext cx="4255751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Production Access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627132" y="4500736"/>
            <a:ext cx="3419812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Single Source of Truth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18751" y="3703183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87672" y="4742672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68709" y="5793450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937262" y="7110824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11656"/>
            <a:ext cx="3356854" cy="2746644"/>
            <a:chOff x="0" y="0"/>
            <a:chExt cx="884110" cy="723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4110" cy="723396"/>
            </a:xfrm>
            <a:custGeom>
              <a:avLst/>
              <a:gdLst/>
              <a:ahLst/>
              <a:cxnLst/>
              <a:rect l="l" t="t" r="r" b="b"/>
              <a:pathLst>
                <a:path w="884110" h="723396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4360" y="5496910"/>
            <a:ext cx="3356854" cy="2746644"/>
            <a:chOff x="0" y="0"/>
            <a:chExt cx="884110" cy="723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4110" cy="723396"/>
            </a:xfrm>
            <a:custGeom>
              <a:avLst/>
              <a:gdLst/>
              <a:ahLst/>
              <a:cxnLst/>
              <a:rect l="l" t="t" r="r" b="b"/>
              <a:pathLst>
                <a:path w="884110" h="723396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85662" y="4509396"/>
            <a:ext cx="3356854" cy="2746644"/>
            <a:chOff x="0" y="0"/>
            <a:chExt cx="884110" cy="723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4110" cy="723396"/>
            </a:xfrm>
            <a:custGeom>
              <a:avLst/>
              <a:gdLst/>
              <a:ahLst/>
              <a:cxnLst/>
              <a:rect l="l" t="t" r="r" b="b"/>
              <a:pathLst>
                <a:path w="884110" h="723396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26525" y="3514568"/>
            <a:ext cx="3356854" cy="2746644"/>
            <a:chOff x="0" y="0"/>
            <a:chExt cx="884110" cy="723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4110" cy="723396"/>
            </a:xfrm>
            <a:custGeom>
              <a:avLst/>
              <a:gdLst/>
              <a:ahLst/>
              <a:cxnLst/>
              <a:rect l="l" t="t" r="r" b="b"/>
              <a:pathLst>
                <a:path w="884110" h="723396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01092" y="3176664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0665" y="6214941"/>
            <a:ext cx="625871" cy="973383"/>
            <a:chOff x="0" y="0"/>
            <a:chExt cx="164838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28171" y="5159712"/>
            <a:ext cx="625871" cy="973383"/>
            <a:chOff x="0" y="0"/>
            <a:chExt cx="164838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52967" y="4173113"/>
            <a:ext cx="625871" cy="973383"/>
            <a:chOff x="0" y="0"/>
            <a:chExt cx="164838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67848" y="3199729"/>
            <a:ext cx="625871" cy="973383"/>
            <a:chOff x="0" y="0"/>
            <a:chExt cx="164838" cy="2563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01092" y="4864423"/>
            <a:ext cx="118737" cy="973383"/>
            <a:chOff x="0" y="0"/>
            <a:chExt cx="31272" cy="2563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01092" y="8243554"/>
            <a:ext cx="118737" cy="973383"/>
            <a:chOff x="0" y="0"/>
            <a:chExt cx="31272" cy="2563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801092" y="6552181"/>
            <a:ext cx="118737" cy="973383"/>
            <a:chOff x="0" y="0"/>
            <a:chExt cx="31272" cy="2563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361731" y="7595725"/>
            <a:ext cx="1226044" cy="1373607"/>
          </a:xfrm>
          <a:custGeom>
            <a:avLst/>
            <a:gdLst/>
            <a:ahLst/>
            <a:cxnLst/>
            <a:rect l="l" t="t" r="r" b="b"/>
            <a:pathLst>
              <a:path w="1226044" h="1373607">
                <a:moveTo>
                  <a:pt x="0" y="0"/>
                </a:moveTo>
                <a:lnTo>
                  <a:pt x="1226044" y="0"/>
                </a:lnTo>
                <a:lnTo>
                  <a:pt x="1226044" y="1373606"/>
                </a:lnTo>
                <a:lnTo>
                  <a:pt x="0" y="1373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3356435" y="6466687"/>
            <a:ext cx="1290835" cy="1213859"/>
          </a:xfrm>
          <a:custGeom>
            <a:avLst/>
            <a:gdLst/>
            <a:ahLst/>
            <a:cxnLst/>
            <a:rect l="l" t="t" r="r" b="b"/>
            <a:pathLst>
              <a:path w="1290835" h="1213859">
                <a:moveTo>
                  <a:pt x="0" y="0"/>
                </a:moveTo>
                <a:lnTo>
                  <a:pt x="1290835" y="0"/>
                </a:lnTo>
                <a:lnTo>
                  <a:pt x="1290835" y="1213859"/>
                </a:lnTo>
                <a:lnTo>
                  <a:pt x="0" y="121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5722101" y="5554532"/>
            <a:ext cx="1079167" cy="1042745"/>
          </a:xfrm>
          <a:custGeom>
            <a:avLst/>
            <a:gdLst/>
            <a:ahLst/>
            <a:cxnLst/>
            <a:rect l="l" t="t" r="r" b="b"/>
            <a:pathLst>
              <a:path w="1079167" h="1042745">
                <a:moveTo>
                  <a:pt x="0" y="0"/>
                </a:moveTo>
                <a:lnTo>
                  <a:pt x="1079166" y="0"/>
                </a:lnTo>
                <a:lnTo>
                  <a:pt x="1079166" y="1042745"/>
                </a:lnTo>
                <a:lnTo>
                  <a:pt x="0" y="1042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/>
          <p:cNvSpPr/>
          <p:nvPr/>
        </p:nvSpPr>
        <p:spPr>
          <a:xfrm>
            <a:off x="7768585" y="4671493"/>
            <a:ext cx="974732" cy="1092136"/>
          </a:xfrm>
          <a:custGeom>
            <a:avLst/>
            <a:gdLst/>
            <a:ahLst/>
            <a:cxnLst/>
            <a:rect l="l" t="t" r="r" b="b"/>
            <a:pathLst>
              <a:path w="974732" h="1092136">
                <a:moveTo>
                  <a:pt x="0" y="0"/>
                </a:moveTo>
                <a:lnTo>
                  <a:pt x="974732" y="0"/>
                </a:lnTo>
                <a:lnTo>
                  <a:pt x="974732" y="1092136"/>
                </a:lnTo>
                <a:lnTo>
                  <a:pt x="0" y="109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3915300" y="971550"/>
            <a:ext cx="10457401" cy="51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3"/>
              </a:lnSpc>
            </a:pPr>
            <a:r>
              <a:rPr lang="en-US" sz="2981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Benefits, Limitations &amp; Success Factors of ERP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2787" y="2024116"/>
            <a:ext cx="8982426" cy="25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</a:pPr>
            <a:r>
              <a:rPr lang="en-US" sz="1500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Assess ERP benefits, limitations, and critical success factors in large firms.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19450" y="6708646"/>
            <a:ext cx="50925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86481" y="5552491"/>
            <a:ext cx="50925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711277" y="4631229"/>
            <a:ext cx="50925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26157" y="3657846"/>
            <a:ext cx="50925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340173" y="3625256"/>
            <a:ext cx="463216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Integration of departments, operational efficiency, real-time information access, scalability for growth, and process standardization across the enterprise.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340173" y="5282304"/>
            <a:ext cx="463216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High implementation cost, system complexity, data migration challenges, user resistance to change, and dependence on a single vendor.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40173" y="6943637"/>
            <a:ext cx="46321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Top management support, clearly defined project scope, effective change management, comprehensive user training, and a skilled project team.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340173" y="8604971"/>
            <a:ext cx="46321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Proactive risk identification and mitigation strategies, along with strong vendor support for expertise, troubleshooting, and long-term system sustainability.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340173" y="3148089"/>
            <a:ext cx="3419812" cy="24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Benefits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340173" y="4805137"/>
            <a:ext cx="4020251" cy="24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Limitations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340173" y="6466471"/>
            <a:ext cx="4020251" cy="24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Critical Success Factors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340173" y="8127804"/>
            <a:ext cx="3419812" cy="24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6"/>
              </a:lnSpc>
            </a:pPr>
            <a:r>
              <a:rPr lang="en-US" sz="1412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Risk &amp; Vendor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9453" y="7990418"/>
            <a:ext cx="3086100" cy="1267882"/>
            <a:chOff x="0" y="0"/>
            <a:chExt cx="622300" cy="255663"/>
          </a:xfrm>
        </p:grpSpPr>
        <p:sp>
          <p:nvSpPr>
            <p:cNvPr id="3" name="Freeform 3"/>
            <p:cNvSpPr/>
            <p:nvPr/>
          </p:nvSpPr>
          <p:spPr>
            <a:xfrm>
              <a:off x="26967" y="0"/>
              <a:ext cx="568366" cy="255663"/>
            </a:xfrm>
            <a:custGeom>
              <a:avLst/>
              <a:gdLst/>
              <a:ahLst/>
              <a:cxnLst/>
              <a:rect l="l" t="t" r="r" b="b"/>
              <a:pathLst>
                <a:path w="568366" h="255663">
                  <a:moveTo>
                    <a:pt x="55622" y="0"/>
                  </a:moveTo>
                  <a:lnTo>
                    <a:pt x="512744" y="0"/>
                  </a:lnTo>
                  <a:cubicBezTo>
                    <a:pt x="531249" y="0"/>
                    <a:pt x="548542" y="9203"/>
                    <a:pt x="558878" y="24551"/>
                  </a:cubicBezTo>
                  <a:cubicBezTo>
                    <a:pt x="569215" y="39900"/>
                    <a:pt x="571242" y="59384"/>
                    <a:pt x="564286" y="76531"/>
                  </a:cubicBezTo>
                  <a:lnTo>
                    <a:pt x="522663" y="179132"/>
                  </a:lnTo>
                  <a:cubicBezTo>
                    <a:pt x="503895" y="225396"/>
                    <a:pt x="458953" y="255663"/>
                    <a:pt x="409027" y="255663"/>
                  </a:cubicBezTo>
                  <a:lnTo>
                    <a:pt x="159339" y="255663"/>
                  </a:lnTo>
                  <a:cubicBezTo>
                    <a:pt x="109413" y="255663"/>
                    <a:pt x="64471" y="225396"/>
                    <a:pt x="45703" y="179132"/>
                  </a:cubicBezTo>
                  <a:lnTo>
                    <a:pt x="4080" y="76531"/>
                  </a:lnTo>
                  <a:cubicBezTo>
                    <a:pt x="-2876" y="59384"/>
                    <a:pt x="-849" y="39900"/>
                    <a:pt x="9487" y="24551"/>
                  </a:cubicBezTo>
                  <a:cubicBezTo>
                    <a:pt x="19824" y="9203"/>
                    <a:pt x="37117" y="0"/>
                    <a:pt x="55622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368300" cy="293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42878" y="6448411"/>
            <a:ext cx="4379251" cy="1265781"/>
            <a:chOff x="0" y="0"/>
            <a:chExt cx="883059" cy="255240"/>
          </a:xfrm>
        </p:grpSpPr>
        <p:sp>
          <p:nvSpPr>
            <p:cNvPr id="6" name="Freeform 6"/>
            <p:cNvSpPr/>
            <p:nvPr/>
          </p:nvSpPr>
          <p:spPr>
            <a:xfrm>
              <a:off x="19028" y="0"/>
              <a:ext cx="845002" cy="255240"/>
            </a:xfrm>
            <a:custGeom>
              <a:avLst/>
              <a:gdLst/>
              <a:ahLst/>
              <a:cxnLst/>
              <a:rect l="l" t="t" r="r" b="b"/>
              <a:pathLst>
                <a:path w="845002" h="255240">
                  <a:moveTo>
                    <a:pt x="39173" y="0"/>
                  </a:moveTo>
                  <a:lnTo>
                    <a:pt x="805829" y="0"/>
                  </a:lnTo>
                  <a:cubicBezTo>
                    <a:pt x="818866" y="0"/>
                    <a:pt x="831048" y="6485"/>
                    <a:pt x="838327" y="17300"/>
                  </a:cubicBezTo>
                  <a:cubicBezTo>
                    <a:pt x="845606" y="28115"/>
                    <a:pt x="847028" y="41842"/>
                    <a:pt x="842120" y="53920"/>
                  </a:cubicBezTo>
                  <a:lnTo>
                    <a:pt x="782224" y="201320"/>
                  </a:lnTo>
                  <a:cubicBezTo>
                    <a:pt x="768978" y="233919"/>
                    <a:pt x="737299" y="255240"/>
                    <a:pt x="702112" y="255240"/>
                  </a:cubicBezTo>
                  <a:lnTo>
                    <a:pt x="142890" y="255240"/>
                  </a:lnTo>
                  <a:cubicBezTo>
                    <a:pt x="107703" y="255240"/>
                    <a:pt x="76025" y="233919"/>
                    <a:pt x="62778" y="201320"/>
                  </a:cubicBezTo>
                  <a:lnTo>
                    <a:pt x="2882" y="53920"/>
                  </a:lnTo>
                  <a:cubicBezTo>
                    <a:pt x="-2025" y="41842"/>
                    <a:pt x="-603" y="28115"/>
                    <a:pt x="6676" y="17300"/>
                  </a:cubicBezTo>
                  <a:cubicBezTo>
                    <a:pt x="13955" y="6485"/>
                    <a:pt x="26137" y="0"/>
                    <a:pt x="39173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38100"/>
              <a:ext cx="629059" cy="293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96303" y="4904718"/>
            <a:ext cx="5672402" cy="1267468"/>
            <a:chOff x="0" y="0"/>
            <a:chExt cx="1143818" cy="255580"/>
          </a:xfrm>
        </p:grpSpPr>
        <p:sp>
          <p:nvSpPr>
            <p:cNvPr id="9" name="Freeform 9"/>
            <p:cNvSpPr/>
            <p:nvPr/>
          </p:nvSpPr>
          <p:spPr>
            <a:xfrm>
              <a:off x="14675" y="0"/>
              <a:ext cx="1114467" cy="255580"/>
            </a:xfrm>
            <a:custGeom>
              <a:avLst/>
              <a:gdLst/>
              <a:ahLst/>
              <a:cxnLst/>
              <a:rect l="l" t="t" r="r" b="b"/>
              <a:pathLst>
                <a:path w="1114467" h="255580">
                  <a:moveTo>
                    <a:pt x="30258" y="0"/>
                  </a:moveTo>
                  <a:lnTo>
                    <a:pt x="1084209" y="0"/>
                  </a:lnTo>
                  <a:cubicBezTo>
                    <a:pt x="1094276" y="0"/>
                    <a:pt x="1103684" y="5007"/>
                    <a:pt x="1109307" y="13357"/>
                  </a:cubicBezTo>
                  <a:cubicBezTo>
                    <a:pt x="1114930" y="21707"/>
                    <a:pt x="1116032" y="32307"/>
                    <a:pt x="1112247" y="41635"/>
                  </a:cubicBezTo>
                  <a:lnTo>
                    <a:pt x="1042322" y="213945"/>
                  </a:lnTo>
                  <a:cubicBezTo>
                    <a:pt x="1032108" y="239114"/>
                    <a:pt x="1007656" y="255580"/>
                    <a:pt x="980492" y="255580"/>
                  </a:cubicBezTo>
                  <a:lnTo>
                    <a:pt x="133975" y="255580"/>
                  </a:lnTo>
                  <a:cubicBezTo>
                    <a:pt x="106812" y="255580"/>
                    <a:pt x="82360" y="239114"/>
                    <a:pt x="72146" y="213945"/>
                  </a:cubicBezTo>
                  <a:lnTo>
                    <a:pt x="2221" y="41635"/>
                  </a:lnTo>
                  <a:cubicBezTo>
                    <a:pt x="-1564" y="32307"/>
                    <a:pt x="-463" y="21707"/>
                    <a:pt x="5160" y="13357"/>
                  </a:cubicBezTo>
                  <a:cubicBezTo>
                    <a:pt x="10783" y="5007"/>
                    <a:pt x="20191" y="0"/>
                    <a:pt x="30258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889818" cy="293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49727" y="3410213"/>
            <a:ext cx="6965552" cy="1218280"/>
            <a:chOff x="0" y="0"/>
            <a:chExt cx="1404576" cy="245661"/>
          </a:xfrm>
        </p:grpSpPr>
        <p:sp>
          <p:nvSpPr>
            <p:cNvPr id="12" name="Freeform 12"/>
            <p:cNvSpPr/>
            <p:nvPr/>
          </p:nvSpPr>
          <p:spPr>
            <a:xfrm>
              <a:off x="12321" y="0"/>
              <a:ext cx="1379934" cy="245661"/>
            </a:xfrm>
            <a:custGeom>
              <a:avLst/>
              <a:gdLst/>
              <a:ahLst/>
              <a:cxnLst/>
              <a:rect l="l" t="t" r="r" b="b"/>
              <a:pathLst>
                <a:path w="1379934" h="245661">
                  <a:moveTo>
                    <a:pt x="24270" y="0"/>
                  </a:moveTo>
                  <a:lnTo>
                    <a:pt x="1355664" y="0"/>
                  </a:lnTo>
                  <a:cubicBezTo>
                    <a:pt x="1363799" y="0"/>
                    <a:pt x="1371393" y="4076"/>
                    <a:pt x="1375890" y="10855"/>
                  </a:cubicBezTo>
                  <a:cubicBezTo>
                    <a:pt x="1380386" y="17634"/>
                    <a:pt x="1381187" y="26216"/>
                    <a:pt x="1378023" y="33710"/>
                  </a:cubicBezTo>
                  <a:lnTo>
                    <a:pt x="1302771" y="211951"/>
                  </a:lnTo>
                  <a:cubicBezTo>
                    <a:pt x="1294145" y="232382"/>
                    <a:pt x="1274124" y="245661"/>
                    <a:pt x="1251947" y="245661"/>
                  </a:cubicBezTo>
                  <a:lnTo>
                    <a:pt x="127987" y="245661"/>
                  </a:lnTo>
                  <a:cubicBezTo>
                    <a:pt x="105810" y="245661"/>
                    <a:pt x="85789" y="232382"/>
                    <a:pt x="77164" y="211951"/>
                  </a:cubicBezTo>
                  <a:lnTo>
                    <a:pt x="1911" y="33710"/>
                  </a:lnTo>
                  <a:cubicBezTo>
                    <a:pt x="-1253" y="26216"/>
                    <a:pt x="-452" y="17634"/>
                    <a:pt x="4045" y="10855"/>
                  </a:cubicBezTo>
                  <a:cubicBezTo>
                    <a:pt x="8541" y="4076"/>
                    <a:pt x="16135" y="0"/>
                    <a:pt x="2427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-38100"/>
              <a:ext cx="1150576" cy="28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67023" y="3518393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54667" y="5094001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20480" y="6669610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40922" y="8245218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9120480" y="4019353"/>
            <a:ext cx="1801275" cy="0"/>
          </a:xfrm>
          <a:prstGeom prst="line">
            <a:avLst/>
          </a:prstGeom>
          <a:ln w="38100" cap="flat">
            <a:solidFill>
              <a:srgbClr val="3B82F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" name="AutoShape 27"/>
          <p:cNvSpPr/>
          <p:nvPr/>
        </p:nvSpPr>
        <p:spPr>
          <a:xfrm>
            <a:off x="8240922" y="5619093"/>
            <a:ext cx="1418640" cy="0"/>
          </a:xfrm>
          <a:prstGeom prst="line">
            <a:avLst/>
          </a:prstGeom>
          <a:ln w="38100" cap="flat">
            <a:solidFill>
              <a:srgbClr val="14B8A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8" name="AutoShape 28"/>
          <p:cNvSpPr/>
          <p:nvPr/>
        </p:nvSpPr>
        <p:spPr>
          <a:xfrm flipV="1">
            <a:off x="7622129" y="7162786"/>
            <a:ext cx="1157874" cy="0"/>
          </a:xfrm>
          <a:prstGeom prst="line">
            <a:avLst/>
          </a:prstGeom>
          <a:ln w="38100" cap="flat">
            <a:solidFill>
              <a:srgbClr val="F59E0B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9" name="AutoShape 29"/>
          <p:cNvSpPr/>
          <p:nvPr/>
        </p:nvSpPr>
        <p:spPr>
          <a:xfrm flipV="1">
            <a:off x="6975553" y="8704793"/>
            <a:ext cx="897819" cy="0"/>
          </a:xfrm>
          <a:prstGeom prst="line">
            <a:avLst/>
          </a:prstGeom>
          <a:ln w="38100" cap="flat">
            <a:solidFill>
              <a:srgbClr val="F9731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979083" y="3555069"/>
            <a:ext cx="917329" cy="886509"/>
          </a:xfrm>
          <a:custGeom>
            <a:avLst/>
            <a:gdLst/>
            <a:ahLst/>
            <a:cxnLst/>
            <a:rect l="l" t="t" r="r" b="b"/>
            <a:pathLst>
              <a:path w="917329" h="886509">
                <a:moveTo>
                  <a:pt x="0" y="0"/>
                </a:moveTo>
                <a:lnTo>
                  <a:pt x="917328" y="0"/>
                </a:lnTo>
                <a:lnTo>
                  <a:pt x="917328" y="886509"/>
                </a:lnTo>
                <a:lnTo>
                  <a:pt x="0" y="88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5129378" y="5158094"/>
            <a:ext cx="626242" cy="748691"/>
          </a:xfrm>
          <a:custGeom>
            <a:avLst/>
            <a:gdLst/>
            <a:ahLst/>
            <a:cxnLst/>
            <a:rect l="l" t="t" r="r" b="b"/>
            <a:pathLst>
              <a:path w="626242" h="748691">
                <a:moveTo>
                  <a:pt x="0" y="0"/>
                </a:moveTo>
                <a:lnTo>
                  <a:pt x="626242" y="0"/>
                </a:lnTo>
                <a:lnTo>
                  <a:pt x="626242" y="748691"/>
                </a:lnTo>
                <a:lnTo>
                  <a:pt x="0" y="748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4936382" y="6700993"/>
            <a:ext cx="984278" cy="812553"/>
          </a:xfrm>
          <a:custGeom>
            <a:avLst/>
            <a:gdLst/>
            <a:ahLst/>
            <a:cxnLst/>
            <a:rect l="l" t="t" r="r" b="b"/>
            <a:pathLst>
              <a:path w="984278" h="812553">
                <a:moveTo>
                  <a:pt x="0" y="0"/>
                </a:moveTo>
                <a:lnTo>
                  <a:pt x="984278" y="0"/>
                </a:lnTo>
                <a:lnTo>
                  <a:pt x="984278" y="812552"/>
                </a:lnTo>
                <a:lnTo>
                  <a:pt x="0" y="812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5128089" y="8174316"/>
            <a:ext cx="606072" cy="910586"/>
          </a:xfrm>
          <a:custGeom>
            <a:avLst/>
            <a:gdLst/>
            <a:ahLst/>
            <a:cxnLst/>
            <a:rect l="l" t="t" r="r" b="b"/>
            <a:pathLst>
              <a:path w="606072" h="910586">
                <a:moveTo>
                  <a:pt x="0" y="0"/>
                </a:moveTo>
                <a:lnTo>
                  <a:pt x="606072" y="0"/>
                </a:lnTo>
                <a:lnTo>
                  <a:pt x="606072" y="910586"/>
                </a:lnTo>
                <a:lnTo>
                  <a:pt x="0" y="910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5303989" y="1076325"/>
            <a:ext cx="732846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2693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&amp; Managerial Decision-Making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52787" y="2043166"/>
            <a:ext cx="8982426" cy="28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How replacing manual reports with ERP enhances managerial decision-making.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06105" y="3986035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Finance, Sales, HR, Operations &amp; Supply Chain data unified in a single ERP platform.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93749" y="5561643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Current, accurate information replaces fragmented manual reports across departments.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59562" y="7137252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Real-time dashboards display financials, payroll, order status, and key performance indicators.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80003" y="8712860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Trend analysis, forecasting &amp; what-if scenarios help managers compare targets and act decisively.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06105" y="3489818"/>
            <a:ext cx="4632168" cy="24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Consolidated Departmental Data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93749" y="5065426"/>
            <a:ext cx="3419812" cy="24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Standardized Reports Replace Manual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59562" y="6641035"/>
            <a:ext cx="3419812" cy="24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Dashboards Show KPIs &amp; Status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80003" y="8216643"/>
            <a:ext cx="4283503" cy="24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464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Analytics Enable Better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52787" y="3471862"/>
            <a:ext cx="3086100" cy="2314575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824" y="4629150"/>
            <a:ext cx="3086100" cy="2314575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02377" y="5786437"/>
            <a:ext cx="3086100" cy="2314575"/>
            <a:chOff x="0" y="0"/>
            <a:chExt cx="812800" cy="609600"/>
          </a:xfrm>
        </p:grpSpPr>
        <p:sp>
          <p:nvSpPr>
            <p:cNvPr id="9" name="Freeform 9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70930" y="6943725"/>
            <a:ext cx="3086100" cy="2314575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12609" y="0"/>
              <a:ext cx="787582" cy="609600"/>
            </a:xfrm>
            <a:custGeom>
              <a:avLst/>
              <a:gdLst/>
              <a:ahLst/>
              <a:cxnLst/>
              <a:rect l="l" t="t" r="r" b="b"/>
              <a:pathLst>
                <a:path w="787582" h="609600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8068" y="6294033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88051" y="2883478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8068" y="7958917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88051" y="4548361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69966" y="3209478"/>
            <a:ext cx="625871" cy="973383"/>
            <a:chOff x="0" y="0"/>
            <a:chExt cx="164838" cy="2563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38887" y="4248968"/>
            <a:ext cx="625871" cy="973383"/>
            <a:chOff x="0" y="0"/>
            <a:chExt cx="164838" cy="2563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19924" y="5299746"/>
            <a:ext cx="625871" cy="973383"/>
            <a:chOff x="0" y="0"/>
            <a:chExt cx="164838" cy="2563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888477" y="6617120"/>
            <a:ext cx="625871" cy="973383"/>
            <a:chOff x="0" y="0"/>
            <a:chExt cx="164838" cy="2563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4838" cy="256364"/>
            </a:xfrm>
            <a:custGeom>
              <a:avLst/>
              <a:gdLst/>
              <a:ahLst/>
              <a:cxnLst/>
              <a:rect l="l" t="t" r="r" b="b"/>
              <a:pathLst>
                <a:path w="164838" h="256364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7673437" y="5492839"/>
            <a:ext cx="1013318" cy="1048971"/>
          </a:xfrm>
          <a:custGeom>
            <a:avLst/>
            <a:gdLst/>
            <a:ahLst/>
            <a:cxnLst/>
            <a:rect l="l" t="t" r="r" b="b"/>
            <a:pathLst>
              <a:path w="1013318" h="1048971">
                <a:moveTo>
                  <a:pt x="0" y="0"/>
                </a:moveTo>
                <a:lnTo>
                  <a:pt x="1013317" y="0"/>
                </a:lnTo>
                <a:lnTo>
                  <a:pt x="1013317" y="1048971"/>
                </a:lnTo>
                <a:lnTo>
                  <a:pt x="0" y="1048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11761345" y="7776298"/>
            <a:ext cx="1275345" cy="1040978"/>
          </a:xfrm>
          <a:custGeom>
            <a:avLst/>
            <a:gdLst/>
            <a:ahLst/>
            <a:cxnLst/>
            <a:rect l="l" t="t" r="r" b="b"/>
            <a:pathLst>
              <a:path w="1275345" h="1040978">
                <a:moveTo>
                  <a:pt x="0" y="0"/>
                </a:moveTo>
                <a:lnTo>
                  <a:pt x="1275345" y="0"/>
                </a:lnTo>
                <a:lnTo>
                  <a:pt x="1275345" y="1040978"/>
                </a:lnTo>
                <a:lnTo>
                  <a:pt x="0" y="104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5286389" y="4381325"/>
            <a:ext cx="1375598" cy="1112843"/>
          </a:xfrm>
          <a:custGeom>
            <a:avLst/>
            <a:gdLst/>
            <a:ahLst/>
            <a:cxnLst/>
            <a:rect l="l" t="t" r="r" b="b"/>
            <a:pathLst>
              <a:path w="1375598" h="1112843">
                <a:moveTo>
                  <a:pt x="0" y="0"/>
                </a:moveTo>
                <a:lnTo>
                  <a:pt x="1375597" y="0"/>
                </a:lnTo>
                <a:lnTo>
                  <a:pt x="1375597" y="1112843"/>
                </a:lnTo>
                <a:lnTo>
                  <a:pt x="0" y="1112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/>
          <p:cNvSpPr/>
          <p:nvPr/>
        </p:nvSpPr>
        <p:spPr>
          <a:xfrm>
            <a:off x="9685141" y="6587304"/>
            <a:ext cx="1286368" cy="988307"/>
          </a:xfrm>
          <a:custGeom>
            <a:avLst/>
            <a:gdLst/>
            <a:ahLst/>
            <a:cxnLst/>
            <a:rect l="l" t="t" r="r" b="b"/>
            <a:pathLst>
              <a:path w="1286368" h="988307">
                <a:moveTo>
                  <a:pt x="0" y="0"/>
                </a:moveTo>
                <a:lnTo>
                  <a:pt x="1286368" y="0"/>
                </a:lnTo>
                <a:lnTo>
                  <a:pt x="1286368" y="988307"/>
                </a:lnTo>
                <a:lnTo>
                  <a:pt x="0" y="988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3915300" y="971550"/>
            <a:ext cx="10457401" cy="48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27"/>
              </a:lnSpc>
            </a:pPr>
            <a:r>
              <a:rPr lang="en-US" sz="2876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&amp; Sales-Production-Inventory Coordination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2787" y="2024116"/>
            <a:ext cx="8982426" cy="273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3"/>
              </a:lnSpc>
            </a:pPr>
            <a:r>
              <a:rPr lang="en-US" sz="159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How ERP improves coordination and efficiency among Sales, Production, and Inventory modules.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7150" y="6742625"/>
            <a:ext cx="4632168" cy="82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3"/>
              </a:lnSpc>
            </a:pPr>
            <a:r>
              <a:rPr lang="en-US" sz="159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Real-time data updates are shared across modules, reducing delays, manual communication, and duplication of effort.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7132" y="3332070"/>
            <a:ext cx="4632168" cy="82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3"/>
              </a:lnSpc>
            </a:pPr>
            <a:r>
              <a:rPr lang="en-US" sz="159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Customer sales orders entered in ERP automatically trigger inventory availability checks across the supply chain.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27150" y="8407508"/>
            <a:ext cx="4632168" cy="55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3"/>
              </a:lnSpc>
            </a:pPr>
            <a:r>
              <a:rPr lang="en-US" sz="1595" dirty="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Improves order fulfilment rates, resource utilization, accuracy, and operational visibility.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27132" y="4996953"/>
            <a:ext cx="4632168" cy="82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3"/>
              </a:lnSpc>
            </a:pPr>
            <a:r>
              <a:rPr lang="en-US" sz="159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Insufficient stock prompts automatic procurement requests or production planning orders to replenish materials.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27150" y="6265458"/>
            <a:ext cx="3419812" cy="2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6"/>
              </a:lnSpc>
            </a:pPr>
            <a:r>
              <a:rPr lang="en-US" sz="172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Production Scheduling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627132" y="2854903"/>
            <a:ext cx="3419812" cy="2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6"/>
              </a:lnSpc>
            </a:pPr>
            <a:r>
              <a:rPr lang="en-US" sz="172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Sales Order Triggered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27150" y="7930342"/>
            <a:ext cx="4255751" cy="2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6"/>
              </a:lnSpc>
            </a:pPr>
            <a:r>
              <a:rPr lang="en-US" sz="172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Order Fulfilment &amp; Efficiency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627132" y="4381500"/>
            <a:ext cx="3419812" cy="2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6"/>
              </a:lnSpc>
            </a:pPr>
            <a:r>
              <a:rPr lang="en-US" sz="1726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Check &amp; Procurement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18751" y="3703183"/>
            <a:ext cx="509251" cy="2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6"/>
              </a:lnSpc>
            </a:pPr>
            <a:r>
              <a:rPr lang="en-US" sz="127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87672" y="4742672"/>
            <a:ext cx="509251" cy="2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6"/>
              </a:lnSpc>
            </a:pPr>
            <a:r>
              <a:rPr lang="en-US" sz="127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68709" y="5793450"/>
            <a:ext cx="509251" cy="2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6"/>
              </a:lnSpc>
            </a:pPr>
            <a:r>
              <a:rPr lang="en-US" sz="127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937262" y="7110824"/>
            <a:ext cx="509251" cy="21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6"/>
              </a:lnSpc>
            </a:pPr>
            <a:r>
              <a:rPr lang="en-US" sz="127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09195" y="1028700"/>
            <a:ext cx="2634805" cy="3065955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26598" y="3610523"/>
            <a:ext cx="2634805" cy="3065955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09195" y="6192345"/>
            <a:ext cx="2634805" cy="3065955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13623"/>
              <a:ext cx="698500" cy="785555"/>
            </a:xfrm>
            <a:custGeom>
              <a:avLst/>
              <a:gdLst/>
              <a:ahLst/>
              <a:cxnLst/>
              <a:rect l="l" t="t" r="r" b="b"/>
              <a:pathLst>
                <a:path w="698500" h="785555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25717" y="1911986"/>
            <a:ext cx="118737" cy="973383"/>
            <a:chOff x="0" y="0"/>
            <a:chExt cx="31272" cy="2563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25717" y="4742681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25717" y="7573376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060007" y="2275429"/>
            <a:ext cx="1532590" cy="943875"/>
          </a:xfrm>
          <a:custGeom>
            <a:avLst/>
            <a:gdLst/>
            <a:ahLst/>
            <a:cxnLst/>
            <a:rect l="l" t="t" r="r" b="b"/>
            <a:pathLst>
              <a:path w="1532590" h="943875">
                <a:moveTo>
                  <a:pt x="0" y="0"/>
                </a:moveTo>
                <a:lnTo>
                  <a:pt x="1532590" y="0"/>
                </a:lnTo>
                <a:lnTo>
                  <a:pt x="1532590" y="943874"/>
                </a:lnTo>
                <a:lnTo>
                  <a:pt x="0" y="943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437562" y="4801439"/>
            <a:ext cx="1399230" cy="1420021"/>
          </a:xfrm>
          <a:custGeom>
            <a:avLst/>
            <a:gdLst/>
            <a:ahLst/>
            <a:cxnLst/>
            <a:rect l="l" t="t" r="r" b="b"/>
            <a:pathLst>
              <a:path w="1399230" h="1420021">
                <a:moveTo>
                  <a:pt x="0" y="0"/>
                </a:moveTo>
                <a:lnTo>
                  <a:pt x="1399230" y="0"/>
                </a:lnTo>
                <a:lnTo>
                  <a:pt x="1399230" y="1420020"/>
                </a:lnTo>
                <a:lnTo>
                  <a:pt x="0" y="1420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7257858" y="7497818"/>
            <a:ext cx="1157656" cy="1389187"/>
          </a:xfrm>
          <a:custGeom>
            <a:avLst/>
            <a:gdLst/>
            <a:ahLst/>
            <a:cxnLst/>
            <a:rect l="l" t="t" r="r" b="b"/>
            <a:pathLst>
              <a:path w="1157656" h="1389187">
                <a:moveTo>
                  <a:pt x="0" y="0"/>
                </a:moveTo>
                <a:lnTo>
                  <a:pt x="1157656" y="0"/>
                </a:lnTo>
                <a:lnTo>
                  <a:pt x="1157656" y="1389187"/>
                </a:lnTo>
                <a:lnTo>
                  <a:pt x="0" y="138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028700" y="4429152"/>
            <a:ext cx="4481438" cy="69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7"/>
              </a:lnSpc>
            </a:pPr>
            <a:r>
              <a:rPr lang="en-US" sz="2693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Emerging Technologies in ERP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925" y="5443005"/>
            <a:ext cx="4960143" cy="89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Cloud, IoT &amp; AI are transforming traditional ERP systems with greater agility, automation, and intelligence.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64799" y="2370102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Scalable, accessible, and cost-efficient. Reduces infrastructure overhead; enables remote access and faster deployment across locations.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64799" y="5200797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IoT connects sensors for real-time tracking and predictive maintenance. AI enables demand forecasting, fraud detection, automation, and chatbots.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64799" y="8031493"/>
            <a:ext cx="4632168" cy="120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1"/>
              </a:lnSpc>
            </a:pPr>
            <a:r>
              <a:rPr lang="en-US" sz="176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Cybersecurity risks, data privacy concerns, vendor dependence, system complexity, and governance remain key challenges to address.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64799" y="1864361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Cloud ERP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4799" y="4695056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IoT &amp; AI Integration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64799" y="7525751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&amp; Considerations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831065" y="4080753"/>
            <a:ext cx="625871" cy="601547"/>
            <a:chOff x="0" y="0"/>
            <a:chExt cx="164838" cy="1584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13662" y="1497736"/>
            <a:ext cx="625871" cy="601547"/>
            <a:chOff x="0" y="0"/>
            <a:chExt cx="164838" cy="1584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13662" y="6569140"/>
            <a:ext cx="625871" cy="601547"/>
            <a:chOff x="0" y="0"/>
            <a:chExt cx="164838" cy="158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4838" cy="158432"/>
            </a:xfrm>
            <a:custGeom>
              <a:avLst/>
              <a:gdLst/>
              <a:ahLst/>
              <a:cxnLst/>
              <a:rect l="l" t="t" r="r" b="b"/>
              <a:pathLst>
                <a:path w="164838" h="158432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889374" y="4202126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1972" y="1619109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1972" y="6690513"/>
            <a:ext cx="509251" cy="24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41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9453" y="7990418"/>
            <a:ext cx="3086100" cy="1267882"/>
            <a:chOff x="0" y="0"/>
            <a:chExt cx="622300" cy="255663"/>
          </a:xfrm>
        </p:grpSpPr>
        <p:sp>
          <p:nvSpPr>
            <p:cNvPr id="3" name="Freeform 3"/>
            <p:cNvSpPr/>
            <p:nvPr/>
          </p:nvSpPr>
          <p:spPr>
            <a:xfrm>
              <a:off x="26967" y="0"/>
              <a:ext cx="568366" cy="255663"/>
            </a:xfrm>
            <a:custGeom>
              <a:avLst/>
              <a:gdLst/>
              <a:ahLst/>
              <a:cxnLst/>
              <a:rect l="l" t="t" r="r" b="b"/>
              <a:pathLst>
                <a:path w="568366" h="255663">
                  <a:moveTo>
                    <a:pt x="55622" y="0"/>
                  </a:moveTo>
                  <a:lnTo>
                    <a:pt x="512744" y="0"/>
                  </a:lnTo>
                  <a:cubicBezTo>
                    <a:pt x="531249" y="0"/>
                    <a:pt x="548542" y="9203"/>
                    <a:pt x="558878" y="24551"/>
                  </a:cubicBezTo>
                  <a:cubicBezTo>
                    <a:pt x="569215" y="39900"/>
                    <a:pt x="571242" y="59384"/>
                    <a:pt x="564286" y="76531"/>
                  </a:cubicBezTo>
                  <a:lnTo>
                    <a:pt x="522663" y="179132"/>
                  </a:lnTo>
                  <a:cubicBezTo>
                    <a:pt x="503895" y="225396"/>
                    <a:pt x="458953" y="255663"/>
                    <a:pt x="409027" y="255663"/>
                  </a:cubicBezTo>
                  <a:lnTo>
                    <a:pt x="159339" y="255663"/>
                  </a:lnTo>
                  <a:cubicBezTo>
                    <a:pt x="109413" y="255663"/>
                    <a:pt x="64471" y="225396"/>
                    <a:pt x="45703" y="179132"/>
                  </a:cubicBezTo>
                  <a:lnTo>
                    <a:pt x="4080" y="76531"/>
                  </a:lnTo>
                  <a:cubicBezTo>
                    <a:pt x="-2876" y="59384"/>
                    <a:pt x="-849" y="39900"/>
                    <a:pt x="9487" y="24551"/>
                  </a:cubicBezTo>
                  <a:cubicBezTo>
                    <a:pt x="19824" y="9203"/>
                    <a:pt x="37117" y="0"/>
                    <a:pt x="55622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368300" cy="293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42878" y="6448411"/>
            <a:ext cx="4379251" cy="1265781"/>
            <a:chOff x="0" y="0"/>
            <a:chExt cx="883059" cy="255240"/>
          </a:xfrm>
        </p:grpSpPr>
        <p:sp>
          <p:nvSpPr>
            <p:cNvPr id="6" name="Freeform 6"/>
            <p:cNvSpPr/>
            <p:nvPr/>
          </p:nvSpPr>
          <p:spPr>
            <a:xfrm>
              <a:off x="19028" y="0"/>
              <a:ext cx="845002" cy="255240"/>
            </a:xfrm>
            <a:custGeom>
              <a:avLst/>
              <a:gdLst/>
              <a:ahLst/>
              <a:cxnLst/>
              <a:rect l="l" t="t" r="r" b="b"/>
              <a:pathLst>
                <a:path w="845002" h="255240">
                  <a:moveTo>
                    <a:pt x="39173" y="0"/>
                  </a:moveTo>
                  <a:lnTo>
                    <a:pt x="805829" y="0"/>
                  </a:lnTo>
                  <a:cubicBezTo>
                    <a:pt x="818866" y="0"/>
                    <a:pt x="831048" y="6485"/>
                    <a:pt x="838327" y="17300"/>
                  </a:cubicBezTo>
                  <a:cubicBezTo>
                    <a:pt x="845606" y="28115"/>
                    <a:pt x="847028" y="41842"/>
                    <a:pt x="842120" y="53920"/>
                  </a:cubicBezTo>
                  <a:lnTo>
                    <a:pt x="782224" y="201320"/>
                  </a:lnTo>
                  <a:cubicBezTo>
                    <a:pt x="768978" y="233919"/>
                    <a:pt x="737299" y="255240"/>
                    <a:pt x="702112" y="255240"/>
                  </a:cubicBezTo>
                  <a:lnTo>
                    <a:pt x="142890" y="255240"/>
                  </a:lnTo>
                  <a:cubicBezTo>
                    <a:pt x="107703" y="255240"/>
                    <a:pt x="76025" y="233919"/>
                    <a:pt x="62778" y="201320"/>
                  </a:cubicBezTo>
                  <a:lnTo>
                    <a:pt x="2882" y="53920"/>
                  </a:lnTo>
                  <a:cubicBezTo>
                    <a:pt x="-2025" y="41842"/>
                    <a:pt x="-603" y="28115"/>
                    <a:pt x="6676" y="17300"/>
                  </a:cubicBezTo>
                  <a:cubicBezTo>
                    <a:pt x="13955" y="6485"/>
                    <a:pt x="26137" y="0"/>
                    <a:pt x="39173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38100"/>
              <a:ext cx="629059" cy="293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96303" y="4904718"/>
            <a:ext cx="5672402" cy="1267468"/>
            <a:chOff x="0" y="0"/>
            <a:chExt cx="1143818" cy="255580"/>
          </a:xfrm>
        </p:grpSpPr>
        <p:sp>
          <p:nvSpPr>
            <p:cNvPr id="9" name="Freeform 9"/>
            <p:cNvSpPr/>
            <p:nvPr/>
          </p:nvSpPr>
          <p:spPr>
            <a:xfrm>
              <a:off x="14675" y="0"/>
              <a:ext cx="1114467" cy="255580"/>
            </a:xfrm>
            <a:custGeom>
              <a:avLst/>
              <a:gdLst/>
              <a:ahLst/>
              <a:cxnLst/>
              <a:rect l="l" t="t" r="r" b="b"/>
              <a:pathLst>
                <a:path w="1114467" h="255580">
                  <a:moveTo>
                    <a:pt x="30258" y="0"/>
                  </a:moveTo>
                  <a:lnTo>
                    <a:pt x="1084209" y="0"/>
                  </a:lnTo>
                  <a:cubicBezTo>
                    <a:pt x="1094276" y="0"/>
                    <a:pt x="1103684" y="5007"/>
                    <a:pt x="1109307" y="13357"/>
                  </a:cubicBezTo>
                  <a:cubicBezTo>
                    <a:pt x="1114930" y="21707"/>
                    <a:pt x="1116032" y="32307"/>
                    <a:pt x="1112247" y="41635"/>
                  </a:cubicBezTo>
                  <a:lnTo>
                    <a:pt x="1042322" y="213945"/>
                  </a:lnTo>
                  <a:cubicBezTo>
                    <a:pt x="1032108" y="239114"/>
                    <a:pt x="1007656" y="255580"/>
                    <a:pt x="980492" y="255580"/>
                  </a:cubicBezTo>
                  <a:lnTo>
                    <a:pt x="133975" y="255580"/>
                  </a:lnTo>
                  <a:cubicBezTo>
                    <a:pt x="106812" y="255580"/>
                    <a:pt x="82360" y="239114"/>
                    <a:pt x="72146" y="213945"/>
                  </a:cubicBezTo>
                  <a:lnTo>
                    <a:pt x="2221" y="41635"/>
                  </a:lnTo>
                  <a:cubicBezTo>
                    <a:pt x="-1564" y="32307"/>
                    <a:pt x="-463" y="21707"/>
                    <a:pt x="5160" y="13357"/>
                  </a:cubicBezTo>
                  <a:cubicBezTo>
                    <a:pt x="10783" y="5007"/>
                    <a:pt x="20191" y="0"/>
                    <a:pt x="30258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889818" cy="293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49727" y="3410213"/>
            <a:ext cx="6965552" cy="1218280"/>
            <a:chOff x="0" y="0"/>
            <a:chExt cx="1404576" cy="245661"/>
          </a:xfrm>
        </p:grpSpPr>
        <p:sp>
          <p:nvSpPr>
            <p:cNvPr id="12" name="Freeform 12"/>
            <p:cNvSpPr/>
            <p:nvPr/>
          </p:nvSpPr>
          <p:spPr>
            <a:xfrm>
              <a:off x="12321" y="0"/>
              <a:ext cx="1379934" cy="245661"/>
            </a:xfrm>
            <a:custGeom>
              <a:avLst/>
              <a:gdLst/>
              <a:ahLst/>
              <a:cxnLst/>
              <a:rect l="l" t="t" r="r" b="b"/>
              <a:pathLst>
                <a:path w="1379934" h="245661">
                  <a:moveTo>
                    <a:pt x="24270" y="0"/>
                  </a:moveTo>
                  <a:lnTo>
                    <a:pt x="1355664" y="0"/>
                  </a:lnTo>
                  <a:cubicBezTo>
                    <a:pt x="1363799" y="0"/>
                    <a:pt x="1371393" y="4076"/>
                    <a:pt x="1375890" y="10855"/>
                  </a:cubicBezTo>
                  <a:cubicBezTo>
                    <a:pt x="1380386" y="17634"/>
                    <a:pt x="1381187" y="26216"/>
                    <a:pt x="1378023" y="33710"/>
                  </a:cubicBezTo>
                  <a:lnTo>
                    <a:pt x="1302771" y="211951"/>
                  </a:lnTo>
                  <a:cubicBezTo>
                    <a:pt x="1294145" y="232382"/>
                    <a:pt x="1274124" y="245661"/>
                    <a:pt x="1251947" y="245661"/>
                  </a:cubicBezTo>
                  <a:lnTo>
                    <a:pt x="127987" y="245661"/>
                  </a:lnTo>
                  <a:cubicBezTo>
                    <a:pt x="105810" y="245661"/>
                    <a:pt x="85789" y="232382"/>
                    <a:pt x="77164" y="211951"/>
                  </a:cubicBezTo>
                  <a:lnTo>
                    <a:pt x="1911" y="33710"/>
                  </a:lnTo>
                  <a:cubicBezTo>
                    <a:pt x="-1253" y="26216"/>
                    <a:pt x="-452" y="17634"/>
                    <a:pt x="4045" y="10855"/>
                  </a:cubicBezTo>
                  <a:cubicBezTo>
                    <a:pt x="8541" y="4076"/>
                    <a:pt x="16135" y="0"/>
                    <a:pt x="2427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-38100"/>
              <a:ext cx="1150576" cy="28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67023" y="3518393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54667" y="5094001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20480" y="6669610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40922" y="8245218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9120480" y="4019353"/>
            <a:ext cx="1801275" cy="0"/>
          </a:xfrm>
          <a:prstGeom prst="line">
            <a:avLst/>
          </a:prstGeom>
          <a:ln w="38100" cap="flat">
            <a:solidFill>
              <a:srgbClr val="3B82F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" name="AutoShape 27"/>
          <p:cNvSpPr/>
          <p:nvPr/>
        </p:nvSpPr>
        <p:spPr>
          <a:xfrm>
            <a:off x="8240922" y="5619093"/>
            <a:ext cx="1418640" cy="0"/>
          </a:xfrm>
          <a:prstGeom prst="line">
            <a:avLst/>
          </a:prstGeom>
          <a:ln w="38100" cap="flat">
            <a:solidFill>
              <a:srgbClr val="14B8A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8" name="AutoShape 28"/>
          <p:cNvSpPr/>
          <p:nvPr/>
        </p:nvSpPr>
        <p:spPr>
          <a:xfrm flipV="1">
            <a:off x="7622129" y="7162786"/>
            <a:ext cx="1157874" cy="0"/>
          </a:xfrm>
          <a:prstGeom prst="line">
            <a:avLst/>
          </a:prstGeom>
          <a:ln w="38100" cap="flat">
            <a:solidFill>
              <a:srgbClr val="F59E0B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9" name="AutoShape 29"/>
          <p:cNvSpPr/>
          <p:nvPr/>
        </p:nvSpPr>
        <p:spPr>
          <a:xfrm flipV="1">
            <a:off x="6975553" y="8704793"/>
            <a:ext cx="897819" cy="0"/>
          </a:xfrm>
          <a:prstGeom prst="line">
            <a:avLst/>
          </a:prstGeom>
          <a:ln w="38100" cap="flat">
            <a:solidFill>
              <a:srgbClr val="F97316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5009579" y="3606564"/>
            <a:ext cx="911570" cy="794951"/>
          </a:xfrm>
          <a:custGeom>
            <a:avLst/>
            <a:gdLst/>
            <a:ahLst/>
            <a:cxnLst/>
            <a:rect l="l" t="t" r="r" b="b"/>
            <a:pathLst>
              <a:path w="911570" h="794951">
                <a:moveTo>
                  <a:pt x="0" y="0"/>
                </a:moveTo>
                <a:lnTo>
                  <a:pt x="911571" y="0"/>
                </a:lnTo>
                <a:lnTo>
                  <a:pt x="911571" y="794951"/>
                </a:lnTo>
                <a:lnTo>
                  <a:pt x="0" y="794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5058220" y="5175177"/>
            <a:ext cx="755906" cy="736803"/>
          </a:xfrm>
          <a:custGeom>
            <a:avLst/>
            <a:gdLst/>
            <a:ahLst/>
            <a:cxnLst/>
            <a:rect l="l" t="t" r="r" b="b"/>
            <a:pathLst>
              <a:path w="755906" h="736803">
                <a:moveTo>
                  <a:pt x="0" y="0"/>
                </a:moveTo>
                <a:lnTo>
                  <a:pt x="755906" y="0"/>
                </a:lnTo>
                <a:lnTo>
                  <a:pt x="755906" y="736804"/>
                </a:lnTo>
                <a:lnTo>
                  <a:pt x="0" y="73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4966427" y="6577788"/>
            <a:ext cx="928819" cy="1014416"/>
          </a:xfrm>
          <a:custGeom>
            <a:avLst/>
            <a:gdLst/>
            <a:ahLst/>
            <a:cxnLst/>
            <a:rect l="l" t="t" r="r" b="b"/>
            <a:pathLst>
              <a:path w="928819" h="1014416">
                <a:moveTo>
                  <a:pt x="0" y="0"/>
                </a:moveTo>
                <a:lnTo>
                  <a:pt x="928819" y="0"/>
                </a:lnTo>
                <a:lnTo>
                  <a:pt x="928819" y="1014416"/>
                </a:lnTo>
                <a:lnTo>
                  <a:pt x="0" y="101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5048366" y="8278127"/>
            <a:ext cx="766526" cy="597650"/>
          </a:xfrm>
          <a:custGeom>
            <a:avLst/>
            <a:gdLst/>
            <a:ahLst/>
            <a:cxnLst/>
            <a:rect l="l" t="t" r="r" b="b"/>
            <a:pathLst>
              <a:path w="766526" h="597650">
                <a:moveTo>
                  <a:pt x="0" y="0"/>
                </a:moveTo>
                <a:lnTo>
                  <a:pt x="766526" y="0"/>
                </a:lnTo>
                <a:lnTo>
                  <a:pt x="766526" y="597650"/>
                </a:lnTo>
                <a:lnTo>
                  <a:pt x="0" y="597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5303989" y="1114425"/>
            <a:ext cx="7328465" cy="66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96"/>
              </a:lnSpc>
            </a:pPr>
            <a:r>
              <a:rPr lang="en-US" sz="499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ERP at a Glance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52787" y="2043166"/>
            <a:ext cx="8982426" cy="26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 visual summary of how ERP creates value across the organization.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06105" y="3986035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All business data stored in a single, unified repository — eliminating silos and ensuring consistency across departments.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93749" y="5561643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Finance, HR, Sales, Supply Chain, and Production modules share data seamlessly through the common database.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59562" y="7137252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Transactions are recorded instantly, keeping inventory, production, and financial data current and accurate at all times.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80003" y="8712860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ERP dashboards and reports provide KPIs, analytics, and forecasting tools — empowering managers to make faster, informed decisions.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06105" y="3470768"/>
            <a:ext cx="4632168" cy="38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1"/>
              </a:lnSpc>
            </a:pPr>
            <a:r>
              <a:rPr lang="en-US" sz="223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Common Database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93749" y="5046376"/>
            <a:ext cx="3419812" cy="38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1"/>
              </a:lnSpc>
            </a:pPr>
            <a:r>
              <a:rPr lang="en-US" sz="223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Integrated Modules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59562" y="6621985"/>
            <a:ext cx="3419812" cy="38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1"/>
              </a:lnSpc>
            </a:pPr>
            <a:r>
              <a:rPr lang="en-US" sz="223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Updates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80003" y="7962900"/>
            <a:ext cx="4283503" cy="38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1"/>
              </a:lnSpc>
            </a:pPr>
            <a:r>
              <a:rPr lang="en-US" sz="2236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Dashboards &amp; Better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77562" y="1161110"/>
            <a:ext cx="2701100" cy="2701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17808" y="17808"/>
              <a:ext cx="777183" cy="777183"/>
            </a:xfrm>
            <a:custGeom>
              <a:avLst/>
              <a:gdLst/>
              <a:ahLst/>
              <a:cxnLst/>
              <a:rect l="l" t="t" r="r" b="b"/>
              <a:pathLst>
                <a:path w="777183" h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77562" y="2902890"/>
            <a:ext cx="2701100" cy="2701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17808" y="17808"/>
              <a:ext cx="777183" cy="777183"/>
            </a:xfrm>
            <a:custGeom>
              <a:avLst/>
              <a:gdLst/>
              <a:ahLst/>
              <a:cxnLst/>
              <a:rect l="l" t="t" r="r" b="b"/>
              <a:pathLst>
                <a:path w="777183" h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77562" y="4659786"/>
            <a:ext cx="2701100" cy="2701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17808" y="17808"/>
              <a:ext cx="777183" cy="777183"/>
            </a:xfrm>
            <a:custGeom>
              <a:avLst/>
              <a:gdLst/>
              <a:ahLst/>
              <a:cxnLst/>
              <a:rect l="l" t="t" r="r" b="b"/>
              <a:pathLst>
                <a:path w="777183" h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7562" y="6416682"/>
            <a:ext cx="2701100" cy="2701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17808" y="17808"/>
              <a:ext cx="777183" cy="777183"/>
            </a:xfrm>
            <a:custGeom>
              <a:avLst/>
              <a:gdLst/>
              <a:ahLst/>
              <a:cxnLst/>
              <a:rect l="l" t="t" r="r" b="b"/>
              <a:pathLst>
                <a:path w="777183" h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86839" y="7343713"/>
            <a:ext cx="847036" cy="847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30287" y="30287"/>
              <a:ext cx="752225" cy="752225"/>
            </a:xfrm>
            <a:custGeom>
              <a:avLst/>
              <a:gdLst/>
              <a:ahLst/>
              <a:cxnLst/>
              <a:rect l="l" t="t" r="r" b="b"/>
              <a:pathLst>
                <a:path w="752225" h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86839" y="5603990"/>
            <a:ext cx="847036" cy="847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30287" y="30287"/>
              <a:ext cx="752225" cy="752225"/>
            </a:xfrm>
            <a:custGeom>
              <a:avLst/>
              <a:gdLst/>
              <a:ahLst/>
              <a:cxnLst/>
              <a:rect l="l" t="t" r="r" b="b"/>
              <a:pathLst>
                <a:path w="752225" h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86839" y="3829922"/>
            <a:ext cx="847036" cy="847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30287" y="30287"/>
              <a:ext cx="752225" cy="752225"/>
            </a:xfrm>
            <a:custGeom>
              <a:avLst/>
              <a:gdLst/>
              <a:ahLst/>
              <a:cxnLst/>
              <a:rect l="l" t="t" r="r" b="b"/>
              <a:pathLst>
                <a:path w="752225" h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86839" y="2088142"/>
            <a:ext cx="847036" cy="84703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30287" y="30287"/>
              <a:ext cx="752225" cy="752225"/>
            </a:xfrm>
            <a:custGeom>
              <a:avLst/>
              <a:gdLst/>
              <a:ahLst/>
              <a:cxnLst/>
              <a:rect l="l" t="t" r="r" b="b"/>
              <a:pathLst>
                <a:path w="752225" h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078094" y="1861968"/>
            <a:ext cx="118737" cy="973383"/>
            <a:chOff x="0" y="0"/>
            <a:chExt cx="31272" cy="2563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78094" y="3603748"/>
            <a:ext cx="118737" cy="973383"/>
            <a:chOff x="0" y="0"/>
            <a:chExt cx="31272" cy="2563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078094" y="5341282"/>
            <a:ext cx="118737" cy="973383"/>
            <a:chOff x="0" y="0"/>
            <a:chExt cx="31272" cy="2563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078094" y="7078815"/>
            <a:ext cx="118737" cy="973383"/>
            <a:chOff x="0" y="0"/>
            <a:chExt cx="31272" cy="2563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7957004" y="1681243"/>
            <a:ext cx="606072" cy="1202575"/>
          </a:xfrm>
          <a:custGeom>
            <a:avLst/>
            <a:gdLst/>
            <a:ahLst/>
            <a:cxnLst/>
            <a:rect l="l" t="t" r="r" b="b"/>
            <a:pathLst>
              <a:path w="606072" h="1202575">
                <a:moveTo>
                  <a:pt x="0" y="0"/>
                </a:moveTo>
                <a:lnTo>
                  <a:pt x="606072" y="0"/>
                </a:lnTo>
                <a:lnTo>
                  <a:pt x="606072" y="1202574"/>
                </a:lnTo>
                <a:lnTo>
                  <a:pt x="0" y="120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7855677" y="3671682"/>
            <a:ext cx="791424" cy="946571"/>
          </a:xfrm>
          <a:custGeom>
            <a:avLst/>
            <a:gdLst/>
            <a:ahLst/>
            <a:cxnLst/>
            <a:rect l="l" t="t" r="r" b="b"/>
            <a:pathLst>
              <a:path w="791424" h="946571">
                <a:moveTo>
                  <a:pt x="0" y="0"/>
                </a:moveTo>
                <a:lnTo>
                  <a:pt x="791424" y="0"/>
                </a:lnTo>
                <a:lnTo>
                  <a:pt x="791424" y="946571"/>
                </a:lnTo>
                <a:lnTo>
                  <a:pt x="0" y="946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7743185" y="5443503"/>
            <a:ext cx="815547" cy="888879"/>
          </a:xfrm>
          <a:custGeom>
            <a:avLst/>
            <a:gdLst/>
            <a:ahLst/>
            <a:cxnLst/>
            <a:rect l="l" t="t" r="r" b="b"/>
            <a:pathLst>
              <a:path w="815547" h="888879">
                <a:moveTo>
                  <a:pt x="0" y="0"/>
                </a:moveTo>
                <a:lnTo>
                  <a:pt x="815546" y="0"/>
                </a:lnTo>
                <a:lnTo>
                  <a:pt x="815546" y="888879"/>
                </a:lnTo>
                <a:lnTo>
                  <a:pt x="0" y="888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/>
          <p:cNvSpPr/>
          <p:nvPr/>
        </p:nvSpPr>
        <p:spPr>
          <a:xfrm>
            <a:off x="7914896" y="7285402"/>
            <a:ext cx="632778" cy="716784"/>
          </a:xfrm>
          <a:custGeom>
            <a:avLst/>
            <a:gdLst/>
            <a:ahLst/>
            <a:cxnLst/>
            <a:rect l="l" t="t" r="r" b="b"/>
            <a:pathLst>
              <a:path w="632778" h="716784">
                <a:moveTo>
                  <a:pt x="0" y="0"/>
                </a:moveTo>
                <a:lnTo>
                  <a:pt x="632778" y="0"/>
                </a:lnTo>
                <a:lnTo>
                  <a:pt x="632778" y="716785"/>
                </a:lnTo>
                <a:lnTo>
                  <a:pt x="0" y="716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1028700" y="3806000"/>
            <a:ext cx="4481438" cy="1168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5"/>
              </a:lnSpc>
            </a:pPr>
            <a:r>
              <a:rPr lang="en-US" sz="444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</a:t>
            </a:r>
          </a:p>
          <a:p>
            <a:pPr marL="0" lvl="0" indent="0" algn="l">
              <a:lnSpc>
                <a:spcPts val="4535"/>
              </a:lnSpc>
            </a:pPr>
            <a:r>
              <a:rPr lang="en-US" sz="444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Success Factors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8925" y="5452530"/>
            <a:ext cx="4960143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Key factors that determine successful ERP implementation in organizations.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55731" y="2332259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55731" y="4104396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55731" y="5819958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55731" y="7622601"/>
            <a:ext cx="509251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6"/>
              </a:lnSpc>
            </a:pPr>
            <a:r>
              <a:rPr lang="en-US" sz="12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17175" y="2329610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Ensures resources, direction, and organizational commitment for ERP adoption and rollout.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17175" y="4071390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Defines project goals, limits scope creep, and facilitates user adoption through structured change management.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17175" y="5808923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Equips users with necessary skills; a skilled project team drives execution and problem-solving effectively.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617175" y="7546457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Identifies and mitigates risks early; vendor support provides expertise and troubleshooting throughout.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617175" y="1833393"/>
            <a:ext cx="3419812" cy="25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54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Top Management Support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17175" y="3575173"/>
            <a:ext cx="3419812" cy="25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54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Clear Scope &amp; Change Management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617175" y="5312707"/>
            <a:ext cx="3419812" cy="25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54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&amp; Skilled Project Team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617175" y="7050240"/>
            <a:ext cx="4283503" cy="25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</a:pPr>
            <a:r>
              <a:rPr lang="en-US" sz="1542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Risk Management &amp; Vendor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04964" y="4047437"/>
            <a:ext cx="2163258" cy="2163258"/>
            <a:chOff x="0" y="0"/>
            <a:chExt cx="5588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9317059" y="6592212"/>
            <a:ext cx="2163258" cy="2163258"/>
            <a:chOff x="0" y="0"/>
            <a:chExt cx="5588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6288504" y="6402804"/>
            <a:ext cx="2855496" cy="2855496"/>
            <a:chOff x="0" y="0"/>
            <a:chExt cx="5588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9144000" y="3547309"/>
            <a:ext cx="2855496" cy="2855496"/>
            <a:chOff x="0" y="0"/>
            <a:chExt cx="5588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3397745"/>
            <a:ext cx="118737" cy="973383"/>
            <a:chOff x="0" y="0"/>
            <a:chExt cx="31272" cy="2563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7456086"/>
            <a:ext cx="118737" cy="973383"/>
            <a:chOff x="0" y="0"/>
            <a:chExt cx="31272" cy="2563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99496" y="3234745"/>
            <a:ext cx="118737" cy="973383"/>
            <a:chOff x="0" y="0"/>
            <a:chExt cx="31272" cy="256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88051" y="7456086"/>
            <a:ext cx="118737" cy="973383"/>
            <a:chOff x="0" y="0"/>
            <a:chExt cx="31272" cy="2563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7644599" y="4976623"/>
            <a:ext cx="754394" cy="814386"/>
          </a:xfrm>
          <a:custGeom>
            <a:avLst/>
            <a:gdLst/>
            <a:ahLst/>
            <a:cxnLst/>
            <a:rect l="l" t="t" r="r" b="b"/>
            <a:pathLst>
              <a:path w="754394" h="814386">
                <a:moveTo>
                  <a:pt x="0" y="0"/>
                </a:moveTo>
                <a:lnTo>
                  <a:pt x="754394" y="0"/>
                </a:lnTo>
                <a:lnTo>
                  <a:pt x="754394" y="814385"/>
                </a:lnTo>
                <a:lnTo>
                  <a:pt x="0" y="814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7590653" y="6943430"/>
            <a:ext cx="832315" cy="807715"/>
          </a:xfrm>
          <a:custGeom>
            <a:avLst/>
            <a:gdLst/>
            <a:ahLst/>
            <a:cxnLst/>
            <a:rect l="l" t="t" r="r" b="b"/>
            <a:pathLst>
              <a:path w="832315" h="807715">
                <a:moveTo>
                  <a:pt x="0" y="0"/>
                </a:moveTo>
                <a:lnTo>
                  <a:pt x="832315" y="0"/>
                </a:lnTo>
                <a:lnTo>
                  <a:pt x="832315" y="807715"/>
                </a:lnTo>
                <a:lnTo>
                  <a:pt x="0" y="807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9873816" y="4780903"/>
            <a:ext cx="1063823" cy="946299"/>
          </a:xfrm>
          <a:custGeom>
            <a:avLst/>
            <a:gdLst/>
            <a:ahLst/>
            <a:cxnLst/>
            <a:rect l="l" t="t" r="r" b="b"/>
            <a:pathLst>
              <a:path w="1063823" h="946299">
                <a:moveTo>
                  <a:pt x="0" y="0"/>
                </a:moveTo>
                <a:lnTo>
                  <a:pt x="1063823" y="0"/>
                </a:lnTo>
                <a:lnTo>
                  <a:pt x="1063823" y="946299"/>
                </a:lnTo>
                <a:lnTo>
                  <a:pt x="0" y="946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9772447" y="6969558"/>
            <a:ext cx="884942" cy="966732"/>
          </a:xfrm>
          <a:custGeom>
            <a:avLst/>
            <a:gdLst/>
            <a:ahLst/>
            <a:cxnLst/>
            <a:rect l="l" t="t" r="r" b="b"/>
            <a:pathLst>
              <a:path w="884942" h="966732">
                <a:moveTo>
                  <a:pt x="0" y="0"/>
                </a:moveTo>
                <a:lnTo>
                  <a:pt x="884942" y="0"/>
                </a:lnTo>
                <a:lnTo>
                  <a:pt x="884942" y="966732"/>
                </a:lnTo>
                <a:lnTo>
                  <a:pt x="0" y="96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5303989" y="1095375"/>
            <a:ext cx="7328465" cy="56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2"/>
              </a:lnSpc>
            </a:pPr>
            <a:r>
              <a:rPr lang="en-US" sz="415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Benefits &amp; Challenges Recap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52787" y="2024116"/>
            <a:ext cx="8982426" cy="33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9"/>
              </a:lnSpc>
            </a:pPr>
            <a:r>
              <a:rPr lang="en-US" sz="193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 visual contrast of ERP's core advantages and key implementation challenges.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67782" y="3846337"/>
            <a:ext cx="4632168" cy="101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9"/>
              </a:lnSpc>
            </a:pPr>
            <a:r>
              <a:rPr lang="en-US" sz="193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Unifies Finance, HR, Supply Chain &amp; Sales into one platform, eliminating silos and boosting operational efficiency.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67782" y="7904678"/>
            <a:ext cx="4632168" cy="101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9"/>
              </a:lnSpc>
            </a:pPr>
            <a:r>
              <a:rPr lang="en-US" sz="193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Real-time dashboards, analytics, and standardized data empower informed decisions and support business growth.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67782" y="3359645"/>
            <a:ext cx="3419812" cy="38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6"/>
              </a:lnSpc>
            </a:pPr>
            <a:r>
              <a:rPr lang="en-US" sz="2275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Integration &amp; Efficiency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7782" y="7417986"/>
            <a:ext cx="4255751" cy="38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6"/>
              </a:lnSpc>
            </a:pPr>
            <a:r>
              <a:rPr lang="en-US" sz="2275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 Support &amp; Scalability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38577" y="3683337"/>
            <a:ext cx="4632168" cy="136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9"/>
              </a:lnSpc>
            </a:pPr>
            <a:r>
              <a:rPr lang="en-US" sz="193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High implementation and licensing costs, combined with complex configurations, pose significant financial and technical challenges.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27132" y="7904678"/>
            <a:ext cx="4632168" cy="136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9"/>
              </a:lnSpc>
            </a:pPr>
            <a:r>
              <a:rPr lang="en-US" sz="193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User resistance to change, difficult data migration from legacy systems, and vendor dependence can hinder successful ERP adoption.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38577" y="3196645"/>
            <a:ext cx="4720723" cy="38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6"/>
              </a:lnSpc>
            </a:pPr>
            <a:r>
              <a:rPr lang="en-US" sz="2275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Cost &amp; Complexity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27132" y="7417986"/>
            <a:ext cx="4233327" cy="38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6"/>
              </a:lnSpc>
            </a:pPr>
            <a:r>
              <a:rPr lang="en-US" sz="2275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Resistance &amp; Data Migration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8568" y="4127783"/>
            <a:ext cx="2642475" cy="1816701"/>
            <a:chOff x="0" y="0"/>
            <a:chExt cx="60960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8568" y="6181002"/>
            <a:ext cx="2642475" cy="1816701"/>
            <a:chOff x="0" y="0"/>
            <a:chExt cx="609600" cy="419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6181986" y="4127783"/>
            <a:ext cx="2642475" cy="1816701"/>
            <a:chOff x="0" y="0"/>
            <a:chExt cx="609600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6181986" y="6181002"/>
            <a:ext cx="2642475" cy="1816701"/>
            <a:chOff x="0" y="0"/>
            <a:chExt cx="609600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48097" y="733369"/>
            <a:ext cx="8487116" cy="66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16"/>
              </a:lnSpc>
            </a:pPr>
            <a:r>
              <a:rPr lang="en-US" sz="4917" b="1" dirty="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Key Takeaways for Students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3397745"/>
            <a:ext cx="118737" cy="973383"/>
            <a:chOff x="0" y="0"/>
            <a:chExt cx="31272" cy="2563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7456086"/>
            <a:ext cx="118737" cy="973383"/>
            <a:chOff x="0" y="0"/>
            <a:chExt cx="31272" cy="2563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99496" y="3234745"/>
            <a:ext cx="118737" cy="973383"/>
            <a:chOff x="0" y="0"/>
            <a:chExt cx="31272" cy="2563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88051" y="7456086"/>
            <a:ext cx="118737" cy="973383"/>
            <a:chOff x="0" y="0"/>
            <a:chExt cx="31272" cy="2563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67782" y="3855862"/>
            <a:ext cx="4632168" cy="81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</a:pPr>
            <a:r>
              <a:rPr lang="en-US" sz="1556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Understand ERP's role in integrating core business processes with real-time data updates across all modules.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7782" y="7914203"/>
            <a:ext cx="4632168" cy="81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</a:pPr>
            <a:r>
              <a:rPr lang="en-US" sz="1556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Know critical success factors like top management support, change management, training, and common challenges such as cost and complexity.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67782" y="3350120"/>
            <a:ext cx="3419812" cy="38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</a:pPr>
            <a:r>
              <a:rPr lang="en-US" sz="2301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Integration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67782" y="7408461"/>
            <a:ext cx="4255751" cy="38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</a:pPr>
            <a:r>
              <a:rPr lang="en-US" sz="2301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Success Factors &amp; Challenges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38577" y="3692862"/>
            <a:ext cx="4632168" cy="81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</a:pPr>
            <a:r>
              <a:rPr lang="en-US" sz="1556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Recognize how a common database eliminates data silos and improves coordination across Finance, Sales, HR, and Supply Chain.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627132" y="7914203"/>
            <a:ext cx="4632168" cy="81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</a:pPr>
            <a:r>
              <a:rPr lang="en-US" sz="1556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Appreciate how Cloud, AI, and IoT are transforming traditional ERP systems for better responsiveness and automation.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38577" y="3187120"/>
            <a:ext cx="4720723" cy="38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</a:pPr>
            <a:r>
              <a:rPr lang="en-US" sz="2301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Cross-Departmental Benefits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27132" y="7408461"/>
            <a:ext cx="4233327" cy="38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</a:pPr>
            <a:r>
              <a:rPr lang="en-US" sz="2301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Emerging Tech in ERP</a:t>
            </a:r>
          </a:p>
        </p:txBody>
      </p:sp>
      <p:sp>
        <p:nvSpPr>
          <p:cNvPr id="36" name="Freeform 36"/>
          <p:cNvSpPr/>
          <p:nvPr/>
        </p:nvSpPr>
        <p:spPr>
          <a:xfrm>
            <a:off x="7185514" y="4524285"/>
            <a:ext cx="797717" cy="748877"/>
          </a:xfrm>
          <a:custGeom>
            <a:avLst/>
            <a:gdLst/>
            <a:ahLst/>
            <a:cxnLst/>
            <a:rect l="l" t="t" r="r" b="b"/>
            <a:pathLst>
              <a:path w="797717" h="748877">
                <a:moveTo>
                  <a:pt x="0" y="0"/>
                </a:moveTo>
                <a:lnTo>
                  <a:pt x="797717" y="0"/>
                </a:lnTo>
                <a:lnTo>
                  <a:pt x="797717" y="748877"/>
                </a:lnTo>
                <a:lnTo>
                  <a:pt x="0" y="748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9748808" y="4396473"/>
            <a:ext cx="975230" cy="1000474"/>
          </a:xfrm>
          <a:custGeom>
            <a:avLst/>
            <a:gdLst/>
            <a:ahLst/>
            <a:cxnLst/>
            <a:rect l="l" t="t" r="r" b="b"/>
            <a:pathLst>
              <a:path w="975230" h="1000474">
                <a:moveTo>
                  <a:pt x="0" y="0"/>
                </a:moveTo>
                <a:lnTo>
                  <a:pt x="975230" y="0"/>
                </a:lnTo>
                <a:lnTo>
                  <a:pt x="975230" y="1000474"/>
                </a:lnTo>
                <a:lnTo>
                  <a:pt x="0" y="1000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7277445" y="6704826"/>
            <a:ext cx="675544" cy="775025"/>
          </a:xfrm>
          <a:custGeom>
            <a:avLst/>
            <a:gdLst/>
            <a:ahLst/>
            <a:cxnLst/>
            <a:rect l="l" t="t" r="r" b="b"/>
            <a:pathLst>
              <a:path w="675544" h="775025">
                <a:moveTo>
                  <a:pt x="0" y="0"/>
                </a:moveTo>
                <a:lnTo>
                  <a:pt x="675544" y="0"/>
                </a:lnTo>
                <a:lnTo>
                  <a:pt x="675544" y="775025"/>
                </a:lnTo>
                <a:lnTo>
                  <a:pt x="0" y="775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9818094" y="6605323"/>
            <a:ext cx="835950" cy="921653"/>
          </a:xfrm>
          <a:custGeom>
            <a:avLst/>
            <a:gdLst/>
            <a:ahLst/>
            <a:cxnLst/>
            <a:rect l="l" t="t" r="r" b="b"/>
            <a:pathLst>
              <a:path w="835950" h="921653">
                <a:moveTo>
                  <a:pt x="0" y="0"/>
                </a:moveTo>
                <a:lnTo>
                  <a:pt x="835950" y="0"/>
                </a:lnTo>
                <a:lnTo>
                  <a:pt x="835950" y="921653"/>
                </a:lnTo>
                <a:lnTo>
                  <a:pt x="0" y="921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10138" y="2576809"/>
            <a:ext cx="3086100" cy="2693324"/>
            <a:chOff x="0" y="0"/>
            <a:chExt cx="698500" cy="609600"/>
          </a:xfrm>
        </p:grpSpPr>
        <p:sp>
          <p:nvSpPr>
            <p:cNvPr id="3" name="Freeform 3"/>
            <p:cNvSpPr/>
            <p:nvPr/>
          </p:nvSpPr>
          <p:spPr>
            <a:xfrm>
              <a:off x="22660" y="0"/>
              <a:ext cx="653181" cy="578363"/>
            </a:xfrm>
            <a:custGeom>
              <a:avLst/>
              <a:gdLst/>
              <a:ahLst/>
              <a:cxnLst/>
              <a:rect l="l" t="t" r="r" b="b"/>
              <a:pathLst>
                <a:path w="653181" h="578363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3704712">
            <a:off x="7053188" y="3312021"/>
            <a:ext cx="3086100" cy="2693324"/>
            <a:chOff x="0" y="0"/>
            <a:chExt cx="698500" cy="609600"/>
          </a:xfrm>
        </p:grpSpPr>
        <p:sp>
          <p:nvSpPr>
            <p:cNvPr id="6" name="Freeform 6"/>
            <p:cNvSpPr/>
            <p:nvPr/>
          </p:nvSpPr>
          <p:spPr>
            <a:xfrm>
              <a:off x="22660" y="0"/>
              <a:ext cx="653181" cy="578363"/>
            </a:xfrm>
            <a:custGeom>
              <a:avLst/>
              <a:gdLst/>
              <a:ahLst/>
              <a:cxnLst/>
              <a:rect l="l" t="t" r="r" b="b"/>
              <a:pathLst>
                <a:path w="653181" h="578363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7266322">
            <a:off x="7053188" y="4963961"/>
            <a:ext cx="3086100" cy="2693324"/>
            <a:chOff x="0" y="0"/>
            <a:chExt cx="698500" cy="609600"/>
          </a:xfrm>
        </p:grpSpPr>
        <p:sp>
          <p:nvSpPr>
            <p:cNvPr id="9" name="Freeform 9"/>
            <p:cNvSpPr/>
            <p:nvPr/>
          </p:nvSpPr>
          <p:spPr>
            <a:xfrm>
              <a:off x="22660" y="0"/>
              <a:ext cx="653181" cy="578363"/>
            </a:xfrm>
            <a:custGeom>
              <a:avLst/>
              <a:gdLst/>
              <a:ahLst/>
              <a:cxnLst/>
              <a:rect l="l" t="t" r="r" b="b"/>
              <a:pathLst>
                <a:path w="653181" h="578363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5550409" y="5673027"/>
            <a:ext cx="3086100" cy="2693324"/>
            <a:chOff x="0" y="0"/>
            <a:chExt cx="698500" cy="609600"/>
          </a:xfrm>
        </p:grpSpPr>
        <p:sp>
          <p:nvSpPr>
            <p:cNvPr id="12" name="Freeform 12"/>
            <p:cNvSpPr/>
            <p:nvPr/>
          </p:nvSpPr>
          <p:spPr>
            <a:xfrm>
              <a:off x="22660" y="0"/>
              <a:ext cx="653181" cy="578363"/>
            </a:xfrm>
            <a:custGeom>
              <a:avLst/>
              <a:gdLst/>
              <a:ahLst/>
              <a:cxnLst/>
              <a:rect l="l" t="t" r="r" b="b"/>
              <a:pathLst>
                <a:path w="653181" h="578363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4467252"/>
            <a:ext cx="4481438" cy="66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96"/>
              </a:lnSpc>
            </a:pPr>
            <a:r>
              <a:rPr lang="en-US" sz="4996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925" y="5452530"/>
            <a:ext cx="4960143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We appreciate your attention and engagement throughout this presentation.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78094" y="1861968"/>
            <a:ext cx="118737" cy="973383"/>
            <a:chOff x="0" y="0"/>
            <a:chExt cx="31272" cy="2563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078094" y="3603748"/>
            <a:ext cx="118737" cy="973383"/>
            <a:chOff x="0" y="0"/>
            <a:chExt cx="31272" cy="2563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078094" y="5341282"/>
            <a:ext cx="118737" cy="973383"/>
            <a:chOff x="0" y="0"/>
            <a:chExt cx="31272" cy="2563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078094" y="7078815"/>
            <a:ext cx="118737" cy="973383"/>
            <a:chOff x="0" y="0"/>
            <a:chExt cx="31272" cy="2563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272" cy="256364"/>
            </a:xfrm>
            <a:custGeom>
              <a:avLst/>
              <a:gdLst/>
              <a:ahLst/>
              <a:cxnLst/>
              <a:rect l="l" t="t" r="r" b="b"/>
              <a:pathLst>
                <a:path w="31272" h="256364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617175" y="2329610"/>
            <a:ext cx="4632168" cy="54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Feel free to ask questions, seek clarifications, or share your thoughts on ERP concepts covered.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17175" y="4071390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ERP integrates business processes for real-time data, better coordination, and informed decision-making.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17175" y="5808923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Explore ERP case studies and emerging technologies like Cloud, AI, and IoT transforming enterprise systems.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17175" y="7546457"/>
            <a:ext cx="4632168" cy="83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0"/>
              </a:lnSpc>
            </a:pPr>
            <a:r>
              <a:rPr lang="en-US" sz="1621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Refer to your MBA Semester III course materials and recommended readings for deeper understanding of ERP.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17175" y="1814343"/>
            <a:ext cx="463216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Questions &amp; Discussion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17175" y="3556123"/>
            <a:ext cx="4283503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Key Takeaway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17175" y="5293657"/>
            <a:ext cx="3419812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Further Learning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17175" y="7031190"/>
            <a:ext cx="4283503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Contact &amp; Resources</a:t>
            </a:r>
          </a:p>
        </p:txBody>
      </p:sp>
      <p:sp>
        <p:nvSpPr>
          <p:cNvPr id="36" name="Freeform 36"/>
          <p:cNvSpPr/>
          <p:nvPr/>
        </p:nvSpPr>
        <p:spPr>
          <a:xfrm>
            <a:off x="8378756" y="3899749"/>
            <a:ext cx="1003383" cy="1003383"/>
          </a:xfrm>
          <a:custGeom>
            <a:avLst/>
            <a:gdLst/>
            <a:ahLst/>
            <a:cxnLst/>
            <a:rect l="l" t="t" r="r" b="b"/>
            <a:pathLst>
              <a:path w="1003383" h="1003383">
                <a:moveTo>
                  <a:pt x="0" y="0"/>
                </a:moveTo>
                <a:lnTo>
                  <a:pt x="1003383" y="0"/>
                </a:lnTo>
                <a:lnTo>
                  <a:pt x="1003383" y="1003383"/>
                </a:lnTo>
                <a:lnTo>
                  <a:pt x="0" y="1003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6575339" y="6955623"/>
            <a:ext cx="995577" cy="995577"/>
          </a:xfrm>
          <a:custGeom>
            <a:avLst/>
            <a:gdLst/>
            <a:ahLst/>
            <a:cxnLst/>
            <a:rect l="l" t="t" r="r" b="b"/>
            <a:pathLst>
              <a:path w="995577" h="995577">
                <a:moveTo>
                  <a:pt x="0" y="0"/>
                </a:moveTo>
                <a:lnTo>
                  <a:pt x="995577" y="0"/>
                </a:lnTo>
                <a:lnTo>
                  <a:pt x="995577" y="995577"/>
                </a:lnTo>
                <a:lnTo>
                  <a:pt x="0" y="995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6575339" y="2967773"/>
            <a:ext cx="955697" cy="955697"/>
          </a:xfrm>
          <a:custGeom>
            <a:avLst/>
            <a:gdLst/>
            <a:ahLst/>
            <a:cxnLst/>
            <a:rect l="l" t="t" r="r" b="b"/>
            <a:pathLst>
              <a:path w="955697" h="955697">
                <a:moveTo>
                  <a:pt x="0" y="0"/>
                </a:moveTo>
                <a:lnTo>
                  <a:pt x="955698" y="0"/>
                </a:lnTo>
                <a:lnTo>
                  <a:pt x="955698" y="955698"/>
                </a:lnTo>
                <a:lnTo>
                  <a:pt x="0" y="955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8402521" y="6040071"/>
            <a:ext cx="979618" cy="979618"/>
          </a:xfrm>
          <a:custGeom>
            <a:avLst/>
            <a:gdLst/>
            <a:ahLst/>
            <a:cxnLst/>
            <a:rect l="l" t="t" r="r" b="b"/>
            <a:pathLst>
              <a:path w="979618" h="979618">
                <a:moveTo>
                  <a:pt x="0" y="0"/>
                </a:moveTo>
                <a:lnTo>
                  <a:pt x="979618" y="0"/>
                </a:lnTo>
                <a:lnTo>
                  <a:pt x="979618" y="979618"/>
                </a:lnTo>
                <a:lnTo>
                  <a:pt x="0" y="979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1185</Words>
  <Application>Microsoft Office PowerPoint</Application>
  <PresentationFormat>Custom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DM Sans Bold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Model Answer Sheets Suite</dc:title>
  <cp:lastModifiedBy>Karan Thakur</cp:lastModifiedBy>
  <cp:revision>2</cp:revision>
  <dcterms:created xsi:type="dcterms:W3CDTF">2006-08-16T00:00:00Z</dcterms:created>
  <dcterms:modified xsi:type="dcterms:W3CDTF">2026-08-23T17:41:28Z</dcterms:modified>
  <dc:identifier>DAHTIFYHgFE</dc:identifier>
</cp:coreProperties>
</file>